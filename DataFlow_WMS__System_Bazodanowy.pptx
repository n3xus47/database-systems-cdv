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2.jpeg" ContentType="image/jpe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1658600" cy="6562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82840" y="261720"/>
            <a:ext cx="10492200" cy="10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82840" y="1535400"/>
            <a:ext cx="10492200" cy="380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318DF8-5F41-4DE7-A8DB-25F6D48778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0B0A67-790B-4773-B57E-A8529D39D0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C9E64C9-21E1-45A6-8AAB-B33E97A98C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82840" y="261720"/>
            <a:ext cx="10492200" cy="10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82840" y="1535400"/>
            <a:ext cx="10492200" cy="380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17F2756-EE2E-4D2C-908C-952069B5C4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6CBA884-D194-4F0F-897B-29791C75A6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82840" y="261720"/>
            <a:ext cx="10492200" cy="10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82840" y="1535400"/>
            <a:ext cx="5119920" cy="380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959080" y="1535400"/>
            <a:ext cx="5119920" cy="380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07C268A-B49C-43C5-A2CD-EDDDC746AF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21E3634-DD73-4A47-82BC-F25282E9FB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82840" y="261720"/>
            <a:ext cx="10492200" cy="10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2D1862A-E909-4DDE-BF2D-B27A67F41B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0BB17B6-18A8-4A8C-84C1-2509D6822B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22FCC1B-DA0E-4BA5-A718-4A7321971A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C4FA08F-6E8E-4C0E-A7F2-99F560EE05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0580DC-DCF8-4C77-ADAB-C902F02D6D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238E84-45F8-4C63-A5CE-346839E60B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49837C-DC29-4B7E-92DE-25F2FEC5542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CD4088-37D1-4AAD-87D3-AE62D57BBB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28A26A-427D-4434-8286-7D82709AA23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0913B2-DE4A-4C80-BC6F-1868A3AF02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18CD45-6AB0-4997-A7F2-3F2C04BFF61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BEA23A-CC54-46AD-8C82-88E865E16D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D0AA19-4129-42FE-B8B8-7466DAAF90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582840" y="261720"/>
            <a:ext cx="10492200" cy="10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582840" y="1535400"/>
            <a:ext cx="10492200" cy="380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7B8646-A95A-447D-B569-32DD67FF97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F9D602-ABE6-4C11-9AB1-014806BAC4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3847680" cy="6562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9" name="Picture 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3847680" cy="6562440"/>
          </a:xfrm>
          <a:prstGeom prst="rect">
            <a:avLst/>
          </a:prstGeom>
          <a:ln w="0">
            <a:noFill/>
          </a:ln>
        </p:spPr>
      </p:pic>
      <p:pic>
        <p:nvPicPr>
          <p:cNvPr id="70" name="Picture 4" descr="image.jpg"/>
          <p:cNvPicPr/>
          <p:nvPr/>
        </p:nvPicPr>
        <p:blipFill>
          <a:blip r:embed="rId2"/>
          <a:srcRect l="33505" t="0" r="33505" b="0"/>
          <a:stretch/>
        </p:blipFill>
        <p:spPr>
          <a:xfrm>
            <a:off x="0" y="0"/>
            <a:ext cx="3847680" cy="6562440"/>
          </a:xfrm>
          <a:prstGeom prst="rect">
            <a:avLst/>
          </a:prstGeom>
          <a:ln w="0">
            <a:noFill/>
          </a:ln>
        </p:spPr>
      </p:pic>
      <p:sp>
        <p:nvSpPr>
          <p:cNvPr id="71" name="Rectangle 5"/>
          <p:cNvSpPr/>
          <p:nvPr/>
        </p:nvSpPr>
        <p:spPr>
          <a:xfrm>
            <a:off x="3848040" y="0"/>
            <a:ext cx="7810200" cy="6562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Rounded Rectangle 6"/>
          <p:cNvSpPr/>
          <p:nvPr/>
        </p:nvSpPr>
        <p:spPr>
          <a:xfrm>
            <a:off x="4181400" y="333360"/>
            <a:ext cx="7152840" cy="875880"/>
          </a:xfrm>
          <a:prstGeom prst="roundRect">
            <a:avLst>
              <a:gd name="adj" fmla="val 869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ts val="3300"/>
              </a:lnSpc>
            </a:pPr>
            <a:r>
              <a:rPr b="0" lang="en-US" sz="3000" spc="-1" strike="noStrike">
                <a:solidFill>
                  <a:srgbClr val="edeef0"/>
                </a:solidFill>
                <a:latin typeface="Rethink Sans"/>
              </a:rPr>
              <a:t>System Zarządzania Magazynem Oparty na Danych</a:t>
            </a:r>
            <a:endParaRPr b="0" lang="pl-PL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ounded Rectangle 7"/>
          <p:cNvSpPr/>
          <p:nvPr/>
        </p:nvSpPr>
        <p:spPr>
          <a:xfrm>
            <a:off x="4181400" y="1400040"/>
            <a:ext cx="7152840" cy="533160"/>
          </a:xfrm>
          <a:prstGeom prst="roundRect">
            <a:avLst>
              <a:gd name="adj" fmla="val 1428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ts val="2100"/>
              </a:lnSpc>
            </a:pPr>
            <a:r>
              <a:rPr b="0" lang="en-US" sz="1500" spc="-1" strike="noStrike">
                <a:solidFill>
                  <a:srgbClr val="afb3ba"/>
                </a:solidFill>
                <a:latin typeface="Rethink Sans"/>
              </a:rPr>
              <a:t>System bazodanowy klasy WMS dla e-commerce - Wiarygodne źródło danych operacyjnych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ounded Rectangle 8"/>
          <p:cNvSpPr/>
          <p:nvPr/>
        </p:nvSpPr>
        <p:spPr>
          <a:xfrm>
            <a:off x="4181400" y="2124000"/>
            <a:ext cx="7152840" cy="266400"/>
          </a:xfrm>
          <a:prstGeom prst="roundRect">
            <a:avLst>
              <a:gd name="adj" fmla="val 28571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ts val="2100"/>
              </a:lnSpc>
            </a:pPr>
            <a:r>
              <a:rPr b="0" lang="en-US" sz="1500" spc="-1" strike="noStrike">
                <a:solidFill>
                  <a:srgbClr val="afb3ba"/>
                </a:solidFill>
                <a:latin typeface="Rethink Sans"/>
              </a:rPr>
              <a:t>Nikodem Boniecki, Adam Remfeld, Kacper Nowaczyk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ectangle 2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ectangle 3"/>
          <p:cNvSpPr/>
          <p:nvPr/>
        </p:nvSpPr>
        <p:spPr>
          <a:xfrm>
            <a:off x="457200" y="1581120"/>
            <a:ext cx="10743840" cy="30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Rounded Rectangle 4"/>
          <p:cNvSpPr/>
          <p:nvPr/>
        </p:nvSpPr>
        <p:spPr>
          <a:xfrm>
            <a:off x="457200" y="1581120"/>
            <a:ext cx="1257120" cy="304560"/>
          </a:xfrm>
          <a:prstGeom prst="roundRect">
            <a:avLst>
              <a:gd name="adj" fmla="val 25000"/>
            </a:avLst>
          </a:prstGeom>
          <a:solidFill>
            <a:srgbClr val="18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76320" rIns="76320" tIns="76320" bIns="76320" anchor="ctr">
            <a:noAutofit/>
          </a:bodyPr>
          <a:p>
            <a:pPr algn="ctr" defTabSz="457200">
              <a:lnSpc>
                <a:spcPts val="1205"/>
              </a:lnSpc>
            </a:pPr>
            <a:r>
              <a:rPr b="0" lang="en-US" sz="900" spc="-1" strike="noStrike">
                <a:solidFill>
                  <a:srgbClr val="858efc"/>
                </a:solidFill>
                <a:latin typeface="Rethink Sans"/>
              </a:rPr>
              <a:t>CELE I PROBLEMY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ounded Rectangle 5"/>
          <p:cNvSpPr/>
          <p:nvPr/>
        </p:nvSpPr>
        <p:spPr>
          <a:xfrm>
            <a:off x="457200" y="1962000"/>
            <a:ext cx="10743840" cy="456840"/>
          </a:xfrm>
          <a:prstGeom prst="roundRect">
            <a:avLst>
              <a:gd name="adj" fmla="val 1666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ts val="3300"/>
              </a:lnSpc>
            </a:pPr>
            <a:r>
              <a:rPr b="0" lang="en-US" sz="3000" spc="-1" strike="noStrike">
                <a:solidFill>
                  <a:srgbClr val="edeef0"/>
                </a:solidFill>
                <a:latin typeface="Rethink Sans"/>
              </a:rPr>
              <a:t>Cel i Problemy Biznesowe</a:t>
            </a:r>
            <a:endParaRPr b="0" lang="pl-PL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Rectangle 6"/>
          <p:cNvSpPr/>
          <p:nvPr/>
        </p:nvSpPr>
        <p:spPr>
          <a:xfrm>
            <a:off x="457200" y="2610000"/>
            <a:ext cx="10743840" cy="2371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ectangle 7"/>
          <p:cNvSpPr/>
          <p:nvPr/>
        </p:nvSpPr>
        <p:spPr>
          <a:xfrm>
            <a:off x="457200" y="2610000"/>
            <a:ext cx="10743840" cy="2371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Rounded Rectangle 8"/>
          <p:cNvSpPr/>
          <p:nvPr/>
        </p:nvSpPr>
        <p:spPr>
          <a:xfrm>
            <a:off x="457200" y="2610000"/>
            <a:ext cx="2628720" cy="2371320"/>
          </a:xfrm>
          <a:prstGeom prst="roundRect">
            <a:avLst>
              <a:gd name="adj" fmla="val 3212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762120" y="2914560"/>
            <a:ext cx="2018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Cel główny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762120" y="3305160"/>
            <a:ext cx="20188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System porządkuje przepływ informacji stanowiący podstawę decyzji logistycznych, ekonomicznych i jakościowych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Rounded Rectangle 11"/>
          <p:cNvSpPr/>
          <p:nvPr/>
        </p:nvSpPr>
        <p:spPr>
          <a:xfrm>
            <a:off x="3162240" y="2610000"/>
            <a:ext cx="2628720" cy="2371320"/>
          </a:xfrm>
          <a:prstGeom prst="roundRect">
            <a:avLst>
              <a:gd name="adj" fmla="val 3212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3467160" y="2914560"/>
            <a:ext cx="2018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Asymetria informacji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3467160" y="3305160"/>
            <a:ext cx="20188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Brak spójności między magazynem, logistyką a obsługą klienta. Rozproszenie danych utrudnia analizę i raportowanie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ounded Rectangle 14"/>
          <p:cNvSpPr/>
          <p:nvPr/>
        </p:nvSpPr>
        <p:spPr>
          <a:xfrm>
            <a:off x="5867280" y="2610000"/>
            <a:ext cx="2628720" cy="2371320"/>
          </a:xfrm>
          <a:prstGeom prst="roundRect">
            <a:avLst>
              <a:gd name="adj" fmla="val 3212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15"/>
          <p:cNvSpPr/>
          <p:nvPr/>
        </p:nvSpPr>
        <p:spPr>
          <a:xfrm>
            <a:off x="6172200" y="2914560"/>
            <a:ext cx="2018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Identyfikowalność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16"/>
          <p:cNvSpPr/>
          <p:nvPr/>
        </p:nvSpPr>
        <p:spPr>
          <a:xfrm>
            <a:off x="6172200" y="3305160"/>
            <a:ext cx="2018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Brak traceability partii produktów oraz trudność w obiektywnej ocenie jakości usług kurierskich (SLA)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ounded Rectangle 17"/>
          <p:cNvSpPr/>
          <p:nvPr/>
        </p:nvSpPr>
        <p:spPr>
          <a:xfrm>
            <a:off x="8572680" y="2610000"/>
            <a:ext cx="2628720" cy="2371320"/>
          </a:xfrm>
          <a:prstGeom prst="roundRect">
            <a:avLst>
              <a:gd name="adj" fmla="val 3212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18"/>
          <p:cNvSpPr/>
          <p:nvPr/>
        </p:nvSpPr>
        <p:spPr>
          <a:xfrm>
            <a:off x="8877240" y="2914560"/>
            <a:ext cx="2018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Zastosowanie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19"/>
          <p:cNvSpPr/>
          <p:nvPr/>
        </p:nvSpPr>
        <p:spPr>
          <a:xfrm>
            <a:off x="8877240" y="3305160"/>
            <a:ext cx="20188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Kontrola procesów magazynowych, transparentność operacyjna, analityka biznesowa w logistyce e-commerce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ectangle 2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Rounded Rectangle 3"/>
          <p:cNvSpPr/>
          <p:nvPr/>
        </p:nvSpPr>
        <p:spPr>
          <a:xfrm>
            <a:off x="457200" y="457200"/>
            <a:ext cx="10743840" cy="456840"/>
          </a:xfrm>
          <a:prstGeom prst="roundRect">
            <a:avLst>
              <a:gd name="adj" fmla="val 1666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ts val="3300"/>
              </a:lnSpc>
            </a:pPr>
            <a:r>
              <a:rPr b="0" lang="en-US" sz="3000" spc="-1" strike="noStrike">
                <a:solidFill>
                  <a:srgbClr val="edeef0"/>
                </a:solidFill>
                <a:latin typeface="Rethink Sans"/>
              </a:rPr>
              <a:t>Diagram ER - Struktura Bazy</a:t>
            </a:r>
            <a:endParaRPr b="0" lang="pl-PL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Rectangle 4"/>
          <p:cNvSpPr/>
          <p:nvPr/>
        </p:nvSpPr>
        <p:spPr>
          <a:xfrm>
            <a:off x="457200" y="1104840"/>
            <a:ext cx="10743840" cy="30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457200" y="1104840"/>
            <a:ext cx="5257440" cy="30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Rectangle 6"/>
          <p:cNvSpPr/>
          <p:nvPr/>
        </p:nvSpPr>
        <p:spPr>
          <a:xfrm>
            <a:off x="457200" y="1104840"/>
            <a:ext cx="5257440" cy="30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Rounded Rectangle 7"/>
          <p:cNvSpPr/>
          <p:nvPr/>
        </p:nvSpPr>
        <p:spPr>
          <a:xfrm>
            <a:off x="457200" y="1104840"/>
            <a:ext cx="561600" cy="304560"/>
          </a:xfrm>
          <a:prstGeom prst="roundRect">
            <a:avLst>
              <a:gd name="adj" fmla="val 25000"/>
            </a:avLst>
          </a:prstGeom>
          <a:solidFill>
            <a:srgbClr val="18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76320" rIns="76320" tIns="76320" bIns="76320" anchor="ctr">
            <a:noAutofit/>
          </a:bodyPr>
          <a:p>
            <a:pPr algn="ctr" defTabSz="457200">
              <a:lnSpc>
                <a:spcPts val="1205"/>
              </a:lnSpc>
            </a:pPr>
            <a:r>
              <a:rPr b="0" lang="en-US" sz="900" spc="-1" strike="noStrike">
                <a:solidFill>
                  <a:srgbClr val="858efc"/>
                </a:solidFill>
                <a:latin typeface="Rethink Sans"/>
              </a:rPr>
              <a:t>ENCJE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ectangle 8"/>
          <p:cNvSpPr/>
          <p:nvPr/>
        </p:nvSpPr>
        <p:spPr>
          <a:xfrm>
            <a:off x="5943600" y="1104840"/>
            <a:ext cx="5257440" cy="30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ectangle 9"/>
          <p:cNvSpPr/>
          <p:nvPr/>
        </p:nvSpPr>
        <p:spPr>
          <a:xfrm>
            <a:off x="5943600" y="1104840"/>
            <a:ext cx="5257440" cy="30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ounded Rectangle 10"/>
          <p:cNvSpPr/>
          <p:nvPr/>
        </p:nvSpPr>
        <p:spPr>
          <a:xfrm>
            <a:off x="5943600" y="1104840"/>
            <a:ext cx="704520" cy="304560"/>
          </a:xfrm>
          <a:prstGeom prst="roundRect">
            <a:avLst>
              <a:gd name="adj" fmla="val 25000"/>
            </a:avLst>
          </a:prstGeom>
          <a:solidFill>
            <a:srgbClr val="3e3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76320" rIns="76320" tIns="76320" bIns="76320" anchor="ctr">
            <a:noAutofit/>
          </a:bodyPr>
          <a:p>
            <a:pPr algn="ctr" defTabSz="457200">
              <a:lnSpc>
                <a:spcPts val="1205"/>
              </a:lnSpc>
            </a:pPr>
            <a:r>
              <a:rPr b="0" lang="en-US" sz="900" spc="-1" strike="noStrike">
                <a:solidFill>
                  <a:srgbClr val="ffc915"/>
                </a:solidFill>
                <a:latin typeface="Rethink Sans"/>
              </a:rPr>
              <a:t>RELACJE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Rectangle 11"/>
          <p:cNvSpPr/>
          <p:nvPr/>
        </p:nvSpPr>
        <p:spPr>
          <a:xfrm>
            <a:off x="457200" y="1486080"/>
            <a:ext cx="10743840" cy="3504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Rectangle 12"/>
          <p:cNvSpPr/>
          <p:nvPr/>
        </p:nvSpPr>
        <p:spPr>
          <a:xfrm>
            <a:off x="457200" y="1486080"/>
            <a:ext cx="5257440" cy="3504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Rounded Rectangle 13"/>
          <p:cNvSpPr/>
          <p:nvPr/>
        </p:nvSpPr>
        <p:spPr>
          <a:xfrm>
            <a:off x="457200" y="1486080"/>
            <a:ext cx="5257440" cy="3504960"/>
          </a:xfrm>
          <a:prstGeom prst="roundRect">
            <a:avLst>
              <a:gd name="adj" fmla="val 2173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Rectangle 14"/>
          <p:cNvSpPr/>
          <p:nvPr/>
        </p:nvSpPr>
        <p:spPr>
          <a:xfrm>
            <a:off x="762120" y="1790640"/>
            <a:ext cx="464796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Rounded Rectangle 15"/>
          <p:cNvSpPr/>
          <p:nvPr/>
        </p:nvSpPr>
        <p:spPr>
          <a:xfrm>
            <a:off x="762120" y="180972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9" name="Picture 16" descr="image.png"/>
          <p:cNvPicPr/>
          <p:nvPr/>
        </p:nvPicPr>
        <p:blipFill>
          <a:blip r:embed="rId1"/>
          <a:stretch/>
        </p:blipFill>
        <p:spPr>
          <a:xfrm>
            <a:off x="762120" y="1809720"/>
            <a:ext cx="180720" cy="190080"/>
          </a:xfrm>
          <a:prstGeom prst="rect">
            <a:avLst/>
          </a:prstGeom>
          <a:ln w="0">
            <a:noFill/>
          </a:ln>
        </p:spPr>
      </p:pic>
      <p:sp>
        <p:nvSpPr>
          <p:cNvPr id="110" name="Rectangle 17"/>
          <p:cNvSpPr/>
          <p:nvPr/>
        </p:nvSpPr>
        <p:spPr>
          <a:xfrm>
            <a:off x="1057320" y="1809720"/>
            <a:ext cx="435240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18"/>
          <p:cNvSpPr/>
          <p:nvPr/>
        </p:nvSpPr>
        <p:spPr>
          <a:xfrm>
            <a:off x="1057320" y="1809720"/>
            <a:ext cx="4352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CUSTOMER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ectangle 19"/>
          <p:cNvSpPr/>
          <p:nvPr/>
        </p:nvSpPr>
        <p:spPr>
          <a:xfrm>
            <a:off x="762120" y="2324160"/>
            <a:ext cx="464796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ounded Rectangle 20"/>
          <p:cNvSpPr/>
          <p:nvPr/>
        </p:nvSpPr>
        <p:spPr>
          <a:xfrm>
            <a:off x="762120" y="234324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4" name="Picture 21" descr="image.png"/>
          <p:cNvPicPr/>
          <p:nvPr/>
        </p:nvPicPr>
        <p:blipFill>
          <a:blip r:embed="rId2"/>
          <a:stretch/>
        </p:blipFill>
        <p:spPr>
          <a:xfrm>
            <a:off x="762120" y="2343240"/>
            <a:ext cx="180720" cy="190080"/>
          </a:xfrm>
          <a:prstGeom prst="rect">
            <a:avLst/>
          </a:prstGeom>
          <a:ln w="0">
            <a:noFill/>
          </a:ln>
        </p:spPr>
      </p:pic>
      <p:sp>
        <p:nvSpPr>
          <p:cNvPr id="115" name="Rectangle 22"/>
          <p:cNvSpPr/>
          <p:nvPr/>
        </p:nvSpPr>
        <p:spPr>
          <a:xfrm>
            <a:off x="1057320" y="2343240"/>
            <a:ext cx="435240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23"/>
          <p:cNvSpPr/>
          <p:nvPr/>
        </p:nvSpPr>
        <p:spPr>
          <a:xfrm>
            <a:off x="1057320" y="2343240"/>
            <a:ext cx="4352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ORDERS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Rectangle 24"/>
          <p:cNvSpPr/>
          <p:nvPr/>
        </p:nvSpPr>
        <p:spPr>
          <a:xfrm>
            <a:off x="762120" y="2857680"/>
            <a:ext cx="464796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Rounded Rectangle 25"/>
          <p:cNvSpPr/>
          <p:nvPr/>
        </p:nvSpPr>
        <p:spPr>
          <a:xfrm>
            <a:off x="762120" y="287640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9" name="Picture 26" descr="image.png"/>
          <p:cNvPicPr/>
          <p:nvPr/>
        </p:nvPicPr>
        <p:blipFill>
          <a:blip r:embed="rId3"/>
          <a:stretch/>
        </p:blipFill>
        <p:spPr>
          <a:xfrm>
            <a:off x="762120" y="2876400"/>
            <a:ext cx="180720" cy="190080"/>
          </a:xfrm>
          <a:prstGeom prst="rect">
            <a:avLst/>
          </a:prstGeom>
          <a:ln w="0">
            <a:noFill/>
          </a:ln>
        </p:spPr>
      </p:pic>
      <p:sp>
        <p:nvSpPr>
          <p:cNvPr id="120" name="Rectangle 27"/>
          <p:cNvSpPr/>
          <p:nvPr/>
        </p:nvSpPr>
        <p:spPr>
          <a:xfrm>
            <a:off x="1057320" y="2876400"/>
            <a:ext cx="435240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28"/>
          <p:cNvSpPr/>
          <p:nvPr/>
        </p:nvSpPr>
        <p:spPr>
          <a:xfrm>
            <a:off x="1057320" y="2876400"/>
            <a:ext cx="4352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PRODUCT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ectangle 29"/>
          <p:cNvSpPr/>
          <p:nvPr/>
        </p:nvSpPr>
        <p:spPr>
          <a:xfrm>
            <a:off x="762120" y="3390840"/>
            <a:ext cx="464796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Rounded Rectangle 30"/>
          <p:cNvSpPr/>
          <p:nvPr/>
        </p:nvSpPr>
        <p:spPr>
          <a:xfrm>
            <a:off x="762120" y="340992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4" name="Picture 31" descr="image.png"/>
          <p:cNvPicPr/>
          <p:nvPr/>
        </p:nvPicPr>
        <p:blipFill>
          <a:blip r:embed="rId4"/>
          <a:stretch/>
        </p:blipFill>
        <p:spPr>
          <a:xfrm>
            <a:off x="762120" y="3409920"/>
            <a:ext cx="180720" cy="190080"/>
          </a:xfrm>
          <a:prstGeom prst="rect">
            <a:avLst/>
          </a:prstGeom>
          <a:ln w="0">
            <a:noFill/>
          </a:ln>
        </p:spPr>
      </p:pic>
      <p:sp>
        <p:nvSpPr>
          <p:cNvPr id="125" name="Rectangle 32"/>
          <p:cNvSpPr/>
          <p:nvPr/>
        </p:nvSpPr>
        <p:spPr>
          <a:xfrm>
            <a:off x="1057320" y="3409920"/>
            <a:ext cx="435240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33"/>
          <p:cNvSpPr/>
          <p:nvPr/>
        </p:nvSpPr>
        <p:spPr>
          <a:xfrm>
            <a:off x="1057320" y="3409920"/>
            <a:ext cx="4352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LOT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Rectangle 34"/>
          <p:cNvSpPr/>
          <p:nvPr/>
        </p:nvSpPr>
        <p:spPr>
          <a:xfrm>
            <a:off x="762120" y="3924360"/>
            <a:ext cx="464796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Rounded Rectangle 35"/>
          <p:cNvSpPr/>
          <p:nvPr/>
        </p:nvSpPr>
        <p:spPr>
          <a:xfrm>
            <a:off x="762120" y="394344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9" name="Picture 36" descr="image.png"/>
          <p:cNvPicPr/>
          <p:nvPr/>
        </p:nvPicPr>
        <p:blipFill>
          <a:blip r:embed="rId5"/>
          <a:stretch/>
        </p:blipFill>
        <p:spPr>
          <a:xfrm>
            <a:off x="762120" y="3943440"/>
            <a:ext cx="180720" cy="190080"/>
          </a:xfrm>
          <a:prstGeom prst="rect">
            <a:avLst/>
          </a:prstGeom>
          <a:ln w="0">
            <a:noFill/>
          </a:ln>
        </p:spPr>
      </p:pic>
      <p:sp>
        <p:nvSpPr>
          <p:cNvPr id="130" name="Rectangle 37"/>
          <p:cNvSpPr/>
          <p:nvPr/>
        </p:nvSpPr>
        <p:spPr>
          <a:xfrm>
            <a:off x="1057320" y="3943440"/>
            <a:ext cx="435240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38"/>
          <p:cNvSpPr/>
          <p:nvPr/>
        </p:nvSpPr>
        <p:spPr>
          <a:xfrm>
            <a:off x="1057320" y="3943440"/>
            <a:ext cx="4352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STOCK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 39"/>
          <p:cNvSpPr/>
          <p:nvPr/>
        </p:nvSpPr>
        <p:spPr>
          <a:xfrm>
            <a:off x="762120" y="4457880"/>
            <a:ext cx="464796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Rounded Rectangle 40"/>
          <p:cNvSpPr/>
          <p:nvPr/>
        </p:nvSpPr>
        <p:spPr>
          <a:xfrm>
            <a:off x="762120" y="447660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4" name="Picture 41" descr="image.png"/>
          <p:cNvPicPr/>
          <p:nvPr/>
        </p:nvPicPr>
        <p:blipFill>
          <a:blip r:embed="rId6"/>
          <a:stretch/>
        </p:blipFill>
        <p:spPr>
          <a:xfrm>
            <a:off x="762120" y="4476600"/>
            <a:ext cx="180720" cy="190080"/>
          </a:xfrm>
          <a:prstGeom prst="rect">
            <a:avLst/>
          </a:prstGeom>
          <a:ln w="0">
            <a:noFill/>
          </a:ln>
        </p:spPr>
      </p:pic>
      <p:sp>
        <p:nvSpPr>
          <p:cNvPr id="135" name="Rectangle 42"/>
          <p:cNvSpPr/>
          <p:nvPr/>
        </p:nvSpPr>
        <p:spPr>
          <a:xfrm>
            <a:off x="1057320" y="4476600"/>
            <a:ext cx="435240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43"/>
          <p:cNvSpPr/>
          <p:nvPr/>
        </p:nvSpPr>
        <p:spPr>
          <a:xfrm>
            <a:off x="1057320" y="4476600"/>
            <a:ext cx="4352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LOCATION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7" name="Connector 44"/>
          <p:cNvCxnSpPr/>
          <p:nvPr/>
        </p:nvCxnSpPr>
        <p:spPr>
          <a:xfrm>
            <a:off x="761760" y="217152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cxnSp>
        <p:nvCxnSpPr>
          <p:cNvPr id="138" name="Connector 45"/>
          <p:cNvCxnSpPr/>
          <p:nvPr/>
        </p:nvCxnSpPr>
        <p:spPr>
          <a:xfrm>
            <a:off x="761760" y="270504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cxnSp>
        <p:nvCxnSpPr>
          <p:cNvPr id="139" name="Connector 46"/>
          <p:cNvCxnSpPr/>
          <p:nvPr/>
        </p:nvCxnSpPr>
        <p:spPr>
          <a:xfrm>
            <a:off x="761760" y="323820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cxnSp>
        <p:nvCxnSpPr>
          <p:cNvPr id="140" name="Connector 47"/>
          <p:cNvCxnSpPr/>
          <p:nvPr/>
        </p:nvCxnSpPr>
        <p:spPr>
          <a:xfrm>
            <a:off x="761760" y="377172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cxnSp>
        <p:nvCxnSpPr>
          <p:cNvPr id="141" name="Connector 48"/>
          <p:cNvCxnSpPr/>
          <p:nvPr/>
        </p:nvCxnSpPr>
        <p:spPr>
          <a:xfrm>
            <a:off x="761760" y="430524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sp>
        <p:nvSpPr>
          <p:cNvPr id="142" name="Rectangle 49"/>
          <p:cNvSpPr/>
          <p:nvPr/>
        </p:nvSpPr>
        <p:spPr>
          <a:xfrm>
            <a:off x="5943600" y="1486080"/>
            <a:ext cx="5257440" cy="3504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Rounded Rectangle 50"/>
          <p:cNvSpPr/>
          <p:nvPr/>
        </p:nvSpPr>
        <p:spPr>
          <a:xfrm>
            <a:off x="5943600" y="1486080"/>
            <a:ext cx="5257440" cy="3504960"/>
          </a:xfrm>
          <a:prstGeom prst="roundRect">
            <a:avLst>
              <a:gd name="adj" fmla="val 2173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Rectangle 51"/>
          <p:cNvSpPr/>
          <p:nvPr/>
        </p:nvSpPr>
        <p:spPr>
          <a:xfrm>
            <a:off x="6248520" y="1790640"/>
            <a:ext cx="464796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ounded Rectangle 52"/>
          <p:cNvSpPr/>
          <p:nvPr/>
        </p:nvSpPr>
        <p:spPr>
          <a:xfrm>
            <a:off x="6248520" y="1790640"/>
            <a:ext cx="228240" cy="228240"/>
          </a:xfrm>
          <a:prstGeom prst="roundRect">
            <a:avLst>
              <a:gd name="adj" fmla="val 3333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53"/>
          <p:cNvSpPr/>
          <p:nvPr/>
        </p:nvSpPr>
        <p:spPr>
          <a:xfrm>
            <a:off x="6124680" y="1794600"/>
            <a:ext cx="4759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6e7afb"/>
                </a:solidFill>
                <a:latin typeface="Rethink Sans"/>
              </a:rPr>
              <a:t>1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Rectangle 54"/>
          <p:cNvSpPr/>
          <p:nvPr/>
        </p:nvSpPr>
        <p:spPr>
          <a:xfrm>
            <a:off x="6591240" y="1809720"/>
            <a:ext cx="430488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55"/>
          <p:cNvSpPr/>
          <p:nvPr/>
        </p:nvSpPr>
        <p:spPr>
          <a:xfrm>
            <a:off x="6591240" y="1809720"/>
            <a:ext cx="43048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customer składa zamówienia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Rectangle 56"/>
          <p:cNvSpPr/>
          <p:nvPr/>
        </p:nvSpPr>
        <p:spPr>
          <a:xfrm>
            <a:off x="6248520" y="2324160"/>
            <a:ext cx="464796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ounded Rectangle 57"/>
          <p:cNvSpPr/>
          <p:nvPr/>
        </p:nvSpPr>
        <p:spPr>
          <a:xfrm>
            <a:off x="6248520" y="2324160"/>
            <a:ext cx="228240" cy="228240"/>
          </a:xfrm>
          <a:prstGeom prst="roundRect">
            <a:avLst>
              <a:gd name="adj" fmla="val 3333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58"/>
          <p:cNvSpPr/>
          <p:nvPr/>
        </p:nvSpPr>
        <p:spPr>
          <a:xfrm>
            <a:off x="6124680" y="2328120"/>
            <a:ext cx="4759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6e7afb"/>
                </a:solidFill>
                <a:latin typeface="Rethink Sans"/>
              </a:rPr>
              <a:t>2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Rectangle 59"/>
          <p:cNvSpPr/>
          <p:nvPr/>
        </p:nvSpPr>
        <p:spPr>
          <a:xfrm>
            <a:off x="6591240" y="2343240"/>
            <a:ext cx="430488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60"/>
          <p:cNvSpPr/>
          <p:nvPr/>
        </p:nvSpPr>
        <p:spPr>
          <a:xfrm>
            <a:off x="6591240" y="2343240"/>
            <a:ext cx="43048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product posiada partie (LOT)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Rectangle 61"/>
          <p:cNvSpPr/>
          <p:nvPr/>
        </p:nvSpPr>
        <p:spPr>
          <a:xfrm>
            <a:off x="6248520" y="2857680"/>
            <a:ext cx="464796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ounded Rectangle 62"/>
          <p:cNvSpPr/>
          <p:nvPr/>
        </p:nvSpPr>
        <p:spPr>
          <a:xfrm>
            <a:off x="6248520" y="2857680"/>
            <a:ext cx="228240" cy="228240"/>
          </a:xfrm>
          <a:prstGeom prst="roundRect">
            <a:avLst>
              <a:gd name="adj" fmla="val 3333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63"/>
          <p:cNvSpPr/>
          <p:nvPr/>
        </p:nvSpPr>
        <p:spPr>
          <a:xfrm>
            <a:off x="6124680" y="2861640"/>
            <a:ext cx="4759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6e7afb"/>
                </a:solidFill>
                <a:latin typeface="Rethink Sans"/>
              </a:rPr>
              <a:t>3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Rectangle 64"/>
          <p:cNvSpPr/>
          <p:nvPr/>
        </p:nvSpPr>
        <p:spPr>
          <a:xfrm>
            <a:off x="6591240" y="2876400"/>
            <a:ext cx="430488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65"/>
          <p:cNvSpPr/>
          <p:nvPr/>
        </p:nvSpPr>
        <p:spPr>
          <a:xfrm>
            <a:off x="6591240" y="2876400"/>
            <a:ext cx="43048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stock przechowuje produkty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Rectangle 66"/>
          <p:cNvSpPr/>
          <p:nvPr/>
        </p:nvSpPr>
        <p:spPr>
          <a:xfrm>
            <a:off x="6248520" y="3390840"/>
            <a:ext cx="464796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Rounded Rectangle 67"/>
          <p:cNvSpPr/>
          <p:nvPr/>
        </p:nvSpPr>
        <p:spPr>
          <a:xfrm>
            <a:off x="6248520" y="3390840"/>
            <a:ext cx="228240" cy="228240"/>
          </a:xfrm>
          <a:prstGeom prst="roundRect">
            <a:avLst>
              <a:gd name="adj" fmla="val 3333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68"/>
          <p:cNvSpPr/>
          <p:nvPr/>
        </p:nvSpPr>
        <p:spPr>
          <a:xfrm>
            <a:off x="6124680" y="3394800"/>
            <a:ext cx="4759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6e7afb"/>
                </a:solidFill>
                <a:latin typeface="Rethink Sans"/>
              </a:rPr>
              <a:t>4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Rectangle 69"/>
          <p:cNvSpPr/>
          <p:nvPr/>
        </p:nvSpPr>
        <p:spPr>
          <a:xfrm>
            <a:off x="6591240" y="3409920"/>
            <a:ext cx="430488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70"/>
          <p:cNvSpPr/>
          <p:nvPr/>
        </p:nvSpPr>
        <p:spPr>
          <a:xfrm>
            <a:off x="6591240" y="3409920"/>
            <a:ext cx="43048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orders zawiera pozycje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Rectangle 71"/>
          <p:cNvSpPr/>
          <p:nvPr/>
        </p:nvSpPr>
        <p:spPr>
          <a:xfrm>
            <a:off x="6248520" y="3924360"/>
            <a:ext cx="464796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Rounded Rectangle 72"/>
          <p:cNvSpPr/>
          <p:nvPr/>
        </p:nvSpPr>
        <p:spPr>
          <a:xfrm>
            <a:off x="6248520" y="3924360"/>
            <a:ext cx="228240" cy="228240"/>
          </a:xfrm>
          <a:prstGeom prst="roundRect">
            <a:avLst>
              <a:gd name="adj" fmla="val 3333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73"/>
          <p:cNvSpPr/>
          <p:nvPr/>
        </p:nvSpPr>
        <p:spPr>
          <a:xfrm>
            <a:off x="6124680" y="3928320"/>
            <a:ext cx="4759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6e7afb"/>
                </a:solidFill>
                <a:latin typeface="Rethink Sans"/>
              </a:rPr>
              <a:t>5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Rectangle 74"/>
          <p:cNvSpPr/>
          <p:nvPr/>
        </p:nvSpPr>
        <p:spPr>
          <a:xfrm>
            <a:off x="6591240" y="3943440"/>
            <a:ext cx="430488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75"/>
          <p:cNvSpPr/>
          <p:nvPr/>
        </p:nvSpPr>
        <p:spPr>
          <a:xfrm>
            <a:off x="6591240" y="3943440"/>
            <a:ext cx="43048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courier realizuje wysyłki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Rectangle 76"/>
          <p:cNvSpPr/>
          <p:nvPr/>
        </p:nvSpPr>
        <p:spPr>
          <a:xfrm>
            <a:off x="6248520" y="4457880"/>
            <a:ext cx="464796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Rounded Rectangle 77"/>
          <p:cNvSpPr/>
          <p:nvPr/>
        </p:nvSpPr>
        <p:spPr>
          <a:xfrm>
            <a:off x="6248520" y="4457880"/>
            <a:ext cx="228240" cy="228240"/>
          </a:xfrm>
          <a:prstGeom prst="roundRect">
            <a:avLst>
              <a:gd name="adj" fmla="val 3333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78"/>
          <p:cNvSpPr/>
          <p:nvPr/>
        </p:nvSpPr>
        <p:spPr>
          <a:xfrm>
            <a:off x="6124680" y="4461840"/>
            <a:ext cx="47592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6e7afb"/>
                </a:solidFill>
                <a:latin typeface="Rethink Sans"/>
              </a:rPr>
              <a:t>6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Rectangle 79"/>
          <p:cNvSpPr/>
          <p:nvPr/>
        </p:nvSpPr>
        <p:spPr>
          <a:xfrm>
            <a:off x="6591240" y="4476600"/>
            <a:ext cx="430488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80"/>
          <p:cNvSpPr/>
          <p:nvPr/>
        </p:nvSpPr>
        <p:spPr>
          <a:xfrm>
            <a:off x="6591240" y="4476600"/>
            <a:ext cx="43048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orders generuje zwroty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4" name="Connector 81"/>
          <p:cNvCxnSpPr/>
          <p:nvPr/>
        </p:nvCxnSpPr>
        <p:spPr>
          <a:xfrm>
            <a:off x="6248160" y="217152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cxnSp>
        <p:nvCxnSpPr>
          <p:cNvPr id="175" name="Connector 82"/>
          <p:cNvCxnSpPr/>
          <p:nvPr/>
        </p:nvCxnSpPr>
        <p:spPr>
          <a:xfrm>
            <a:off x="6248160" y="270504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cxnSp>
        <p:nvCxnSpPr>
          <p:cNvPr id="176" name="Connector 83"/>
          <p:cNvCxnSpPr/>
          <p:nvPr/>
        </p:nvCxnSpPr>
        <p:spPr>
          <a:xfrm>
            <a:off x="6248160" y="323820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cxnSp>
        <p:nvCxnSpPr>
          <p:cNvPr id="177" name="Connector 84"/>
          <p:cNvCxnSpPr/>
          <p:nvPr/>
        </p:nvCxnSpPr>
        <p:spPr>
          <a:xfrm>
            <a:off x="6248160" y="377172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cxnSp>
        <p:nvCxnSpPr>
          <p:cNvPr id="178" name="Connector 85"/>
          <p:cNvCxnSpPr/>
          <p:nvPr/>
        </p:nvCxnSpPr>
        <p:spPr>
          <a:xfrm>
            <a:off x="6248160" y="430524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Rectangle 2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Rounded Rectangle 3"/>
          <p:cNvSpPr/>
          <p:nvPr/>
        </p:nvSpPr>
        <p:spPr>
          <a:xfrm>
            <a:off x="457200" y="457200"/>
            <a:ext cx="10743840" cy="456840"/>
          </a:xfrm>
          <a:prstGeom prst="roundRect">
            <a:avLst>
              <a:gd name="adj" fmla="val 1666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t">
            <a:noAutofit/>
          </a:bodyPr>
          <a:p>
            <a:pPr defTabSz="457200">
              <a:lnSpc>
                <a:spcPts val="3300"/>
              </a:lnSpc>
            </a:pPr>
            <a:r>
              <a:rPr b="0" lang="en-US" sz="3000" spc="-1" strike="noStrike">
                <a:solidFill>
                  <a:srgbClr val="edeef0"/>
                </a:solidFill>
                <a:latin typeface="Rethink Sans"/>
              </a:rPr>
              <a:t>Encje i Atrybuty</a:t>
            </a:r>
            <a:endParaRPr b="0" lang="pl-PL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Rectangle 4"/>
          <p:cNvSpPr/>
          <p:nvPr/>
        </p:nvSpPr>
        <p:spPr>
          <a:xfrm>
            <a:off x="457200" y="1104840"/>
            <a:ext cx="10743840" cy="30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Rectangle 5"/>
          <p:cNvSpPr/>
          <p:nvPr/>
        </p:nvSpPr>
        <p:spPr>
          <a:xfrm>
            <a:off x="457200" y="1104840"/>
            <a:ext cx="5257440" cy="30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Rectangle 6"/>
          <p:cNvSpPr/>
          <p:nvPr/>
        </p:nvSpPr>
        <p:spPr>
          <a:xfrm>
            <a:off x="457200" y="1104840"/>
            <a:ext cx="5257440" cy="30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Rounded Rectangle 7"/>
          <p:cNvSpPr/>
          <p:nvPr/>
        </p:nvSpPr>
        <p:spPr>
          <a:xfrm>
            <a:off x="457200" y="1104840"/>
            <a:ext cx="1142640" cy="304560"/>
          </a:xfrm>
          <a:prstGeom prst="roundRect">
            <a:avLst>
              <a:gd name="adj" fmla="val 25000"/>
            </a:avLst>
          </a:prstGeom>
          <a:solidFill>
            <a:srgbClr val="18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76320" rIns="76320" tIns="76320" bIns="76320" anchor="ctr">
            <a:noAutofit/>
          </a:bodyPr>
          <a:p>
            <a:pPr algn="ctr" defTabSz="457200">
              <a:lnSpc>
                <a:spcPts val="1205"/>
              </a:lnSpc>
            </a:pPr>
            <a:r>
              <a:rPr b="0" lang="en-US" sz="900" spc="-1" strike="noStrike">
                <a:solidFill>
                  <a:srgbClr val="858efc"/>
                </a:solidFill>
                <a:latin typeface="Rethink Sans"/>
              </a:rPr>
              <a:t>ENCJE BAZOWE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Rectangle 8"/>
          <p:cNvSpPr/>
          <p:nvPr/>
        </p:nvSpPr>
        <p:spPr>
          <a:xfrm>
            <a:off x="5943600" y="1104840"/>
            <a:ext cx="5257440" cy="30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ectangle 9"/>
          <p:cNvSpPr/>
          <p:nvPr/>
        </p:nvSpPr>
        <p:spPr>
          <a:xfrm>
            <a:off x="5943600" y="1104840"/>
            <a:ext cx="5257440" cy="30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Rounded Rectangle 10"/>
          <p:cNvSpPr/>
          <p:nvPr/>
        </p:nvSpPr>
        <p:spPr>
          <a:xfrm>
            <a:off x="5943600" y="1104840"/>
            <a:ext cx="1333080" cy="304560"/>
          </a:xfrm>
          <a:prstGeom prst="roundRect">
            <a:avLst>
              <a:gd name="adj" fmla="val 25000"/>
            </a:avLst>
          </a:prstGeom>
          <a:solidFill>
            <a:srgbClr val="18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76320" rIns="76320" tIns="76320" bIns="76320" anchor="ctr">
            <a:noAutofit/>
          </a:bodyPr>
          <a:p>
            <a:pPr algn="ctr" defTabSz="457200">
              <a:lnSpc>
                <a:spcPts val="1205"/>
              </a:lnSpc>
            </a:pPr>
            <a:r>
              <a:rPr b="0" lang="en-US" sz="900" spc="-1" strike="noStrike">
                <a:solidFill>
                  <a:srgbClr val="858efc"/>
                </a:solidFill>
                <a:latin typeface="Rethink Sans"/>
              </a:rPr>
              <a:t>ENCJE PROCESÓW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Rectangle 11"/>
          <p:cNvSpPr/>
          <p:nvPr/>
        </p:nvSpPr>
        <p:spPr>
          <a:xfrm>
            <a:off x="457200" y="1486080"/>
            <a:ext cx="10743840" cy="3352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Rectangle 12"/>
          <p:cNvSpPr/>
          <p:nvPr/>
        </p:nvSpPr>
        <p:spPr>
          <a:xfrm>
            <a:off x="457200" y="1486080"/>
            <a:ext cx="5257440" cy="3352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Rounded Rectangle 13"/>
          <p:cNvSpPr/>
          <p:nvPr/>
        </p:nvSpPr>
        <p:spPr>
          <a:xfrm>
            <a:off x="457200" y="1486080"/>
            <a:ext cx="5257440" cy="3352320"/>
          </a:xfrm>
          <a:prstGeom prst="roundRect">
            <a:avLst>
              <a:gd name="adj" fmla="val 2272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Rectangle 14"/>
          <p:cNvSpPr/>
          <p:nvPr/>
        </p:nvSpPr>
        <p:spPr>
          <a:xfrm>
            <a:off x="762120" y="1790640"/>
            <a:ext cx="464796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Rounded Rectangle 15"/>
          <p:cNvSpPr/>
          <p:nvPr/>
        </p:nvSpPr>
        <p:spPr>
          <a:xfrm>
            <a:off x="762120" y="180972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4" name="Picture 16" descr="image.png"/>
          <p:cNvPicPr/>
          <p:nvPr/>
        </p:nvPicPr>
        <p:blipFill>
          <a:blip r:embed="rId1"/>
          <a:stretch/>
        </p:blipFill>
        <p:spPr>
          <a:xfrm>
            <a:off x="762120" y="1809720"/>
            <a:ext cx="180720" cy="180720"/>
          </a:xfrm>
          <a:prstGeom prst="rect">
            <a:avLst/>
          </a:prstGeom>
          <a:ln w="0">
            <a:noFill/>
          </a:ln>
        </p:spPr>
      </p:pic>
      <p:sp>
        <p:nvSpPr>
          <p:cNvPr id="195" name="Rectangle 17"/>
          <p:cNvSpPr/>
          <p:nvPr/>
        </p:nvSpPr>
        <p:spPr>
          <a:xfrm>
            <a:off x="1057320" y="1809720"/>
            <a:ext cx="435240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18"/>
          <p:cNvSpPr/>
          <p:nvPr/>
        </p:nvSpPr>
        <p:spPr>
          <a:xfrm>
            <a:off x="1057320" y="1809720"/>
            <a:ext cx="4352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1" lang="en-US" sz="1200" spc="-1" strike="noStrike">
                <a:solidFill>
                  <a:srgbClr val="edeef0"/>
                </a:solidFill>
                <a:latin typeface="Rethink Sans"/>
              </a:rPr>
              <a:t>customer</a:t>
            </a: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: customer_id (PK), full_name, email (UNIQUE)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Rectangle 19"/>
          <p:cNvSpPr/>
          <p:nvPr/>
        </p:nvSpPr>
        <p:spPr>
          <a:xfrm>
            <a:off x="762120" y="2324160"/>
            <a:ext cx="464796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Rounded Rectangle 20"/>
          <p:cNvSpPr/>
          <p:nvPr/>
        </p:nvSpPr>
        <p:spPr>
          <a:xfrm>
            <a:off x="762120" y="234324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9" name="Picture 21" descr="image.png"/>
          <p:cNvPicPr/>
          <p:nvPr/>
        </p:nvPicPr>
        <p:blipFill>
          <a:blip r:embed="rId2"/>
          <a:stretch/>
        </p:blipFill>
        <p:spPr>
          <a:xfrm>
            <a:off x="762120" y="2343240"/>
            <a:ext cx="180720" cy="180720"/>
          </a:xfrm>
          <a:prstGeom prst="rect">
            <a:avLst/>
          </a:prstGeom>
          <a:ln w="0">
            <a:noFill/>
          </a:ln>
        </p:spPr>
      </p:pic>
      <p:sp>
        <p:nvSpPr>
          <p:cNvPr id="200" name="Rectangle 22"/>
          <p:cNvSpPr/>
          <p:nvPr/>
        </p:nvSpPr>
        <p:spPr>
          <a:xfrm>
            <a:off x="1057320" y="2343240"/>
            <a:ext cx="435240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23"/>
          <p:cNvSpPr/>
          <p:nvPr/>
        </p:nvSpPr>
        <p:spPr>
          <a:xfrm>
            <a:off x="1057320" y="2343240"/>
            <a:ext cx="4352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1" lang="en-US" sz="1200" spc="-1" strike="noStrike">
                <a:solidFill>
                  <a:srgbClr val="edeef0"/>
                </a:solidFill>
                <a:latin typeface="Rethink Sans"/>
              </a:rPr>
              <a:t>product</a:t>
            </a: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: product_id (PK), sku (UNIQUE), name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Rectangle 24"/>
          <p:cNvSpPr/>
          <p:nvPr/>
        </p:nvSpPr>
        <p:spPr>
          <a:xfrm>
            <a:off x="762120" y="2857680"/>
            <a:ext cx="4647960" cy="571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Rounded Rectangle 25"/>
          <p:cNvSpPr/>
          <p:nvPr/>
        </p:nvSpPr>
        <p:spPr>
          <a:xfrm>
            <a:off x="762120" y="297180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4" name="Picture 26" descr="image.png"/>
          <p:cNvPicPr/>
          <p:nvPr/>
        </p:nvPicPr>
        <p:blipFill>
          <a:blip r:embed="rId3"/>
          <a:stretch/>
        </p:blipFill>
        <p:spPr>
          <a:xfrm>
            <a:off x="762120" y="2971800"/>
            <a:ext cx="180720" cy="190080"/>
          </a:xfrm>
          <a:prstGeom prst="rect">
            <a:avLst/>
          </a:prstGeom>
          <a:ln w="0">
            <a:noFill/>
          </a:ln>
        </p:spPr>
      </p:pic>
      <p:sp>
        <p:nvSpPr>
          <p:cNvPr id="205" name="Rectangle 27"/>
          <p:cNvSpPr/>
          <p:nvPr/>
        </p:nvSpPr>
        <p:spPr>
          <a:xfrm>
            <a:off x="1057320" y="2876400"/>
            <a:ext cx="435240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TextBox 28"/>
          <p:cNvSpPr/>
          <p:nvPr/>
        </p:nvSpPr>
        <p:spPr>
          <a:xfrm>
            <a:off x="1057320" y="2876400"/>
            <a:ext cx="4352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1" lang="en-US" sz="1200" spc="-1" strike="noStrike">
                <a:solidFill>
                  <a:srgbClr val="edeef0"/>
                </a:solidFill>
                <a:latin typeface="Rethink Sans"/>
              </a:rPr>
              <a:t>lot</a:t>
            </a: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: lot_id (PK), product_id (FK), batch_number, expiration_date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Rectangle 29"/>
          <p:cNvSpPr/>
          <p:nvPr/>
        </p:nvSpPr>
        <p:spPr>
          <a:xfrm>
            <a:off x="762120" y="3581280"/>
            <a:ext cx="4647960" cy="571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Rounded Rectangle 30"/>
          <p:cNvSpPr/>
          <p:nvPr/>
        </p:nvSpPr>
        <p:spPr>
          <a:xfrm>
            <a:off x="762120" y="369576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9" name="Picture 31" descr="image.png"/>
          <p:cNvPicPr/>
          <p:nvPr/>
        </p:nvPicPr>
        <p:blipFill>
          <a:blip r:embed="rId4"/>
          <a:stretch/>
        </p:blipFill>
        <p:spPr>
          <a:xfrm>
            <a:off x="762120" y="3695760"/>
            <a:ext cx="180720" cy="180720"/>
          </a:xfrm>
          <a:prstGeom prst="rect">
            <a:avLst/>
          </a:prstGeom>
          <a:ln w="0">
            <a:noFill/>
          </a:ln>
        </p:spPr>
      </p:pic>
      <p:sp>
        <p:nvSpPr>
          <p:cNvPr id="210" name="Rectangle 32"/>
          <p:cNvSpPr/>
          <p:nvPr/>
        </p:nvSpPr>
        <p:spPr>
          <a:xfrm>
            <a:off x="1057320" y="3600360"/>
            <a:ext cx="435240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33"/>
          <p:cNvSpPr/>
          <p:nvPr/>
        </p:nvSpPr>
        <p:spPr>
          <a:xfrm>
            <a:off x="1057320" y="3600360"/>
            <a:ext cx="4352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1" lang="en-US" sz="1200" spc="-1" strike="noStrike">
                <a:solidFill>
                  <a:srgbClr val="edeef0"/>
                </a:solidFill>
                <a:latin typeface="Rethink Sans"/>
              </a:rPr>
              <a:t>location</a:t>
            </a: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: location_id (PK), zone, location_type (PICKING/STORAGE)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Rectangle 34"/>
          <p:cNvSpPr/>
          <p:nvPr/>
        </p:nvSpPr>
        <p:spPr>
          <a:xfrm>
            <a:off x="762120" y="4305240"/>
            <a:ext cx="4647960" cy="228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Rounded Rectangle 35"/>
          <p:cNvSpPr/>
          <p:nvPr/>
        </p:nvSpPr>
        <p:spPr>
          <a:xfrm>
            <a:off x="762120" y="432432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4" name="Picture 36" descr="image.png"/>
          <p:cNvPicPr/>
          <p:nvPr/>
        </p:nvPicPr>
        <p:blipFill>
          <a:blip r:embed="rId5"/>
          <a:stretch/>
        </p:blipFill>
        <p:spPr>
          <a:xfrm>
            <a:off x="762120" y="4324320"/>
            <a:ext cx="180720" cy="180720"/>
          </a:xfrm>
          <a:prstGeom prst="rect">
            <a:avLst/>
          </a:prstGeom>
          <a:ln w="0">
            <a:noFill/>
          </a:ln>
        </p:spPr>
      </p:pic>
      <p:sp>
        <p:nvSpPr>
          <p:cNvPr id="215" name="Rectangle 37"/>
          <p:cNvSpPr/>
          <p:nvPr/>
        </p:nvSpPr>
        <p:spPr>
          <a:xfrm>
            <a:off x="1057320" y="4324320"/>
            <a:ext cx="435240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38"/>
          <p:cNvSpPr/>
          <p:nvPr/>
        </p:nvSpPr>
        <p:spPr>
          <a:xfrm>
            <a:off x="1057320" y="4324320"/>
            <a:ext cx="4352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1" lang="en-US" sz="1200" spc="-1" strike="noStrike">
                <a:solidFill>
                  <a:srgbClr val="edeef0"/>
                </a:solidFill>
                <a:latin typeface="Rethink Sans"/>
              </a:rPr>
              <a:t>stock</a:t>
            </a: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: product_id, location_id, lot_id (klucz złożony), quantity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17" name="Connector 39"/>
          <p:cNvCxnSpPr/>
          <p:nvPr/>
        </p:nvCxnSpPr>
        <p:spPr>
          <a:xfrm>
            <a:off x="761760" y="217152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cxnSp>
        <p:nvCxnSpPr>
          <p:cNvPr id="218" name="Connector 40"/>
          <p:cNvCxnSpPr/>
          <p:nvPr/>
        </p:nvCxnSpPr>
        <p:spPr>
          <a:xfrm>
            <a:off x="761760" y="270504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cxnSp>
        <p:nvCxnSpPr>
          <p:cNvPr id="219" name="Connector 41"/>
          <p:cNvCxnSpPr/>
          <p:nvPr/>
        </p:nvCxnSpPr>
        <p:spPr>
          <a:xfrm>
            <a:off x="761760" y="342900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cxnSp>
        <p:nvCxnSpPr>
          <p:cNvPr id="220" name="Connector 42"/>
          <p:cNvCxnSpPr/>
          <p:nvPr/>
        </p:nvCxnSpPr>
        <p:spPr>
          <a:xfrm>
            <a:off x="761760" y="415260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sp>
        <p:nvSpPr>
          <p:cNvPr id="221" name="Rectangle 43"/>
          <p:cNvSpPr/>
          <p:nvPr/>
        </p:nvSpPr>
        <p:spPr>
          <a:xfrm>
            <a:off x="5943600" y="1486080"/>
            <a:ext cx="5257440" cy="3352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Rounded Rectangle 44"/>
          <p:cNvSpPr/>
          <p:nvPr/>
        </p:nvSpPr>
        <p:spPr>
          <a:xfrm>
            <a:off x="5943600" y="1486080"/>
            <a:ext cx="5257440" cy="3352320"/>
          </a:xfrm>
          <a:prstGeom prst="roundRect">
            <a:avLst>
              <a:gd name="adj" fmla="val 2272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Rectangle 45"/>
          <p:cNvSpPr/>
          <p:nvPr/>
        </p:nvSpPr>
        <p:spPr>
          <a:xfrm>
            <a:off x="6248520" y="1790640"/>
            <a:ext cx="4647960" cy="342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Rounded Rectangle 46"/>
          <p:cNvSpPr/>
          <p:nvPr/>
        </p:nvSpPr>
        <p:spPr>
          <a:xfrm>
            <a:off x="6248520" y="179064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5" name="Picture 47" descr="image.png"/>
          <p:cNvPicPr/>
          <p:nvPr/>
        </p:nvPicPr>
        <p:blipFill>
          <a:blip r:embed="rId6"/>
          <a:stretch/>
        </p:blipFill>
        <p:spPr>
          <a:xfrm>
            <a:off x="6248520" y="1790640"/>
            <a:ext cx="180720" cy="180720"/>
          </a:xfrm>
          <a:prstGeom prst="rect">
            <a:avLst/>
          </a:prstGeom>
          <a:ln w="0">
            <a:noFill/>
          </a:ln>
        </p:spPr>
      </p:pic>
      <p:sp>
        <p:nvSpPr>
          <p:cNvPr id="226" name="Rectangle 48"/>
          <p:cNvSpPr/>
          <p:nvPr/>
        </p:nvSpPr>
        <p:spPr>
          <a:xfrm>
            <a:off x="6543720" y="1790640"/>
            <a:ext cx="435240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49"/>
          <p:cNvSpPr/>
          <p:nvPr/>
        </p:nvSpPr>
        <p:spPr>
          <a:xfrm>
            <a:off x="6543720" y="1790640"/>
            <a:ext cx="4352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1" lang="en-US" sz="1200" spc="-1" strike="noStrike">
                <a:solidFill>
                  <a:srgbClr val="edeef0"/>
                </a:solidFill>
                <a:latin typeface="Rethink Sans"/>
              </a:rPr>
              <a:t>courier</a:t>
            </a: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: courier_id (PK), name, max_days (SLA)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Rectangle 50"/>
          <p:cNvSpPr/>
          <p:nvPr/>
        </p:nvSpPr>
        <p:spPr>
          <a:xfrm>
            <a:off x="6248520" y="2286000"/>
            <a:ext cx="4647960" cy="342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Rounded Rectangle 51"/>
          <p:cNvSpPr/>
          <p:nvPr/>
        </p:nvSpPr>
        <p:spPr>
          <a:xfrm>
            <a:off x="6248520" y="228600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0" name="Picture 52" descr="image.png"/>
          <p:cNvPicPr/>
          <p:nvPr/>
        </p:nvPicPr>
        <p:blipFill>
          <a:blip r:embed="rId7"/>
          <a:stretch/>
        </p:blipFill>
        <p:spPr>
          <a:xfrm>
            <a:off x="6248520" y="2286000"/>
            <a:ext cx="180720" cy="180720"/>
          </a:xfrm>
          <a:prstGeom prst="rect">
            <a:avLst/>
          </a:prstGeom>
          <a:ln w="0">
            <a:noFill/>
          </a:ln>
        </p:spPr>
      </p:pic>
      <p:sp>
        <p:nvSpPr>
          <p:cNvPr id="231" name="Rectangle 53"/>
          <p:cNvSpPr/>
          <p:nvPr/>
        </p:nvSpPr>
        <p:spPr>
          <a:xfrm>
            <a:off x="6543720" y="2286000"/>
            <a:ext cx="4352400" cy="19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54"/>
          <p:cNvSpPr/>
          <p:nvPr/>
        </p:nvSpPr>
        <p:spPr>
          <a:xfrm>
            <a:off x="6543720" y="2286000"/>
            <a:ext cx="4352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1" lang="en-US" sz="1200" spc="-1" strike="noStrike">
                <a:solidFill>
                  <a:srgbClr val="edeef0"/>
                </a:solidFill>
                <a:latin typeface="Rethink Sans"/>
              </a:rPr>
              <a:t>orders</a:t>
            </a: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: order_id (PK), customer_id (FK), order_date, status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Rectangle 55"/>
          <p:cNvSpPr/>
          <p:nvPr/>
        </p:nvSpPr>
        <p:spPr>
          <a:xfrm>
            <a:off x="6248520" y="2781360"/>
            <a:ext cx="4647960" cy="533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Rounded Rectangle 56"/>
          <p:cNvSpPr/>
          <p:nvPr/>
        </p:nvSpPr>
        <p:spPr>
          <a:xfrm>
            <a:off x="6248520" y="287640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5" name="Picture 57" descr="image.png"/>
          <p:cNvPicPr/>
          <p:nvPr/>
        </p:nvPicPr>
        <p:blipFill>
          <a:blip r:embed="rId8"/>
          <a:stretch/>
        </p:blipFill>
        <p:spPr>
          <a:xfrm>
            <a:off x="6248520" y="2876400"/>
            <a:ext cx="180720" cy="190080"/>
          </a:xfrm>
          <a:prstGeom prst="rect">
            <a:avLst/>
          </a:prstGeom>
          <a:ln w="0">
            <a:noFill/>
          </a:ln>
        </p:spPr>
      </p:pic>
      <p:sp>
        <p:nvSpPr>
          <p:cNvPr id="236" name="Rectangle 58"/>
          <p:cNvSpPr/>
          <p:nvPr/>
        </p:nvSpPr>
        <p:spPr>
          <a:xfrm>
            <a:off x="6543720" y="2781360"/>
            <a:ext cx="435240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59"/>
          <p:cNvSpPr/>
          <p:nvPr/>
        </p:nvSpPr>
        <p:spPr>
          <a:xfrm>
            <a:off x="6543720" y="2781360"/>
            <a:ext cx="4352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1" lang="en-US" sz="1200" spc="-1" strike="noStrike">
                <a:solidFill>
                  <a:srgbClr val="edeef0"/>
                </a:solidFill>
                <a:latin typeface="Rethink Sans"/>
              </a:rPr>
              <a:t>order_item</a:t>
            </a: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: order_item_id (PK), order_id (FK), product_id (FK), quantity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Rectangle 60"/>
          <p:cNvSpPr/>
          <p:nvPr/>
        </p:nvSpPr>
        <p:spPr>
          <a:xfrm>
            <a:off x="6248520" y="3467160"/>
            <a:ext cx="4647960" cy="533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Rounded Rectangle 61"/>
          <p:cNvSpPr/>
          <p:nvPr/>
        </p:nvSpPr>
        <p:spPr>
          <a:xfrm>
            <a:off x="6248520" y="356220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0" name="Picture 62" descr="image.png"/>
          <p:cNvPicPr/>
          <p:nvPr/>
        </p:nvPicPr>
        <p:blipFill>
          <a:blip r:embed="rId9"/>
          <a:stretch/>
        </p:blipFill>
        <p:spPr>
          <a:xfrm>
            <a:off x="6248520" y="3562200"/>
            <a:ext cx="180720" cy="180720"/>
          </a:xfrm>
          <a:prstGeom prst="rect">
            <a:avLst/>
          </a:prstGeom>
          <a:ln w="0">
            <a:noFill/>
          </a:ln>
        </p:spPr>
      </p:pic>
      <p:sp>
        <p:nvSpPr>
          <p:cNvPr id="241" name="Rectangle 63"/>
          <p:cNvSpPr/>
          <p:nvPr/>
        </p:nvSpPr>
        <p:spPr>
          <a:xfrm>
            <a:off x="6543720" y="3467160"/>
            <a:ext cx="435240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TextBox 64"/>
          <p:cNvSpPr/>
          <p:nvPr/>
        </p:nvSpPr>
        <p:spPr>
          <a:xfrm>
            <a:off x="6543720" y="3467160"/>
            <a:ext cx="4352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1" lang="en-US" sz="1200" spc="-1" strike="noStrike">
                <a:solidFill>
                  <a:srgbClr val="edeef0"/>
                </a:solidFill>
                <a:latin typeface="Rethink Sans"/>
              </a:rPr>
              <a:t>shipment</a:t>
            </a: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: shipment_id (PK), order_id (FK, UNIQUE), courier_id (FK)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Rectangle 65"/>
          <p:cNvSpPr/>
          <p:nvPr/>
        </p:nvSpPr>
        <p:spPr>
          <a:xfrm>
            <a:off x="6248520" y="4152960"/>
            <a:ext cx="464796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Rounded Rectangle 66"/>
          <p:cNvSpPr/>
          <p:nvPr/>
        </p:nvSpPr>
        <p:spPr>
          <a:xfrm>
            <a:off x="6248520" y="4248000"/>
            <a:ext cx="180720" cy="190080"/>
          </a:xfrm>
          <a:prstGeom prst="roundRect">
            <a:avLst>
              <a:gd name="adj" fmla="val 421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5" name="Picture 67" descr="image.png"/>
          <p:cNvPicPr/>
          <p:nvPr/>
        </p:nvPicPr>
        <p:blipFill>
          <a:blip r:embed="rId10"/>
          <a:stretch/>
        </p:blipFill>
        <p:spPr>
          <a:xfrm>
            <a:off x="6248520" y="4248000"/>
            <a:ext cx="180720" cy="180720"/>
          </a:xfrm>
          <a:prstGeom prst="rect">
            <a:avLst/>
          </a:prstGeom>
          <a:ln w="0">
            <a:noFill/>
          </a:ln>
        </p:spPr>
      </p:pic>
      <p:sp>
        <p:nvSpPr>
          <p:cNvPr id="246" name="Rectangle 68"/>
          <p:cNvSpPr/>
          <p:nvPr/>
        </p:nvSpPr>
        <p:spPr>
          <a:xfrm>
            <a:off x="6543720" y="4152960"/>
            <a:ext cx="4352400" cy="380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69"/>
          <p:cNvSpPr/>
          <p:nvPr/>
        </p:nvSpPr>
        <p:spPr>
          <a:xfrm>
            <a:off x="6543720" y="4152960"/>
            <a:ext cx="4352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500"/>
              </a:lnSpc>
            </a:pPr>
            <a:r>
              <a:rPr b="1" lang="en-US" sz="1200" spc="-1" strike="noStrike">
                <a:solidFill>
                  <a:srgbClr val="edeef0"/>
                </a:solidFill>
                <a:latin typeface="Rethink Sans"/>
              </a:rPr>
              <a:t>product_returns</a:t>
            </a:r>
            <a:r>
              <a:rPr b="0" lang="en-US" sz="1200" spc="-1" strike="noStrike">
                <a:solidFill>
                  <a:srgbClr val="edeef0"/>
                </a:solidFill>
                <a:latin typeface="Rethink Sans"/>
              </a:rPr>
              <a:t>: return_id (PK), order_id (FK), reason, return_date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8" name="Connector 70"/>
          <p:cNvCxnSpPr/>
          <p:nvPr/>
        </p:nvCxnSpPr>
        <p:spPr>
          <a:xfrm>
            <a:off x="6248160" y="213336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cxnSp>
        <p:nvCxnSpPr>
          <p:cNvPr id="249" name="Connector 71"/>
          <p:cNvCxnSpPr/>
          <p:nvPr/>
        </p:nvCxnSpPr>
        <p:spPr>
          <a:xfrm>
            <a:off x="6248160" y="262872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cxnSp>
        <p:nvCxnSpPr>
          <p:cNvPr id="250" name="Connector 72"/>
          <p:cNvCxnSpPr/>
          <p:nvPr/>
        </p:nvCxnSpPr>
        <p:spPr>
          <a:xfrm>
            <a:off x="6248160" y="331452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  <p:cxnSp>
        <p:nvCxnSpPr>
          <p:cNvPr id="251" name="Connector 73"/>
          <p:cNvCxnSpPr/>
          <p:nvPr/>
        </p:nvCxnSpPr>
        <p:spPr>
          <a:xfrm>
            <a:off x="6248160" y="4000320"/>
            <a:ext cx="4648680" cy="360"/>
          </a:xfrm>
          <a:prstGeom prst="straightConnector1">
            <a:avLst/>
          </a:prstGeom>
          <a:ln>
            <a:solidFill>
              <a:srgbClr val="35383b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 1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Rectangle 2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Rounded Rectangle 3"/>
          <p:cNvSpPr/>
          <p:nvPr/>
        </p:nvSpPr>
        <p:spPr>
          <a:xfrm>
            <a:off x="457200" y="457200"/>
            <a:ext cx="10743840" cy="456840"/>
          </a:xfrm>
          <a:prstGeom prst="roundRect">
            <a:avLst>
              <a:gd name="adj" fmla="val 1666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ts val="3300"/>
              </a:lnSpc>
            </a:pPr>
            <a:r>
              <a:rPr b="0" lang="en-US" sz="3000" spc="-1" strike="noStrike">
                <a:solidFill>
                  <a:srgbClr val="edeef0"/>
                </a:solidFill>
                <a:latin typeface="Rethink Sans"/>
              </a:rPr>
              <a:t>Relacje i Normalizacja</a:t>
            </a:r>
            <a:endParaRPr b="0" lang="pl-PL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Rectangle 4"/>
          <p:cNvSpPr/>
          <p:nvPr/>
        </p:nvSpPr>
        <p:spPr>
          <a:xfrm>
            <a:off x="457200" y="1104840"/>
            <a:ext cx="10743840" cy="3381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Rectangle 5"/>
          <p:cNvSpPr/>
          <p:nvPr/>
        </p:nvSpPr>
        <p:spPr>
          <a:xfrm>
            <a:off x="457200" y="1104840"/>
            <a:ext cx="10743840" cy="3381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Rounded Rectangle 6"/>
          <p:cNvSpPr/>
          <p:nvPr/>
        </p:nvSpPr>
        <p:spPr>
          <a:xfrm>
            <a:off x="457200" y="1104840"/>
            <a:ext cx="3533400" cy="3381120"/>
          </a:xfrm>
          <a:prstGeom prst="roundRect">
            <a:avLst>
              <a:gd name="adj" fmla="val 2253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Rounded Rectangle 7"/>
          <p:cNvSpPr/>
          <p:nvPr/>
        </p:nvSpPr>
        <p:spPr>
          <a:xfrm>
            <a:off x="2095560" y="1409760"/>
            <a:ext cx="256680" cy="247320"/>
          </a:xfrm>
          <a:prstGeom prst="roundRect">
            <a:avLst>
              <a:gd name="adj" fmla="val 30769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59" name="Picture 8" descr="image.png"/>
          <p:cNvPicPr/>
          <p:nvPr/>
        </p:nvPicPr>
        <p:blipFill>
          <a:blip r:embed="rId1"/>
          <a:stretch/>
        </p:blipFill>
        <p:spPr>
          <a:xfrm>
            <a:off x="2095560" y="1409760"/>
            <a:ext cx="256680" cy="247320"/>
          </a:xfrm>
          <a:prstGeom prst="rect">
            <a:avLst/>
          </a:prstGeom>
          <a:ln w="0">
            <a:noFill/>
          </a:ln>
        </p:spPr>
      </p:pic>
      <p:sp>
        <p:nvSpPr>
          <p:cNvPr id="260" name="Rounded Rectangle 9"/>
          <p:cNvSpPr/>
          <p:nvPr/>
        </p:nvSpPr>
        <p:spPr>
          <a:xfrm>
            <a:off x="1943280" y="1886040"/>
            <a:ext cx="552240" cy="1519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ts val="1205"/>
              </a:lnSpc>
            </a:pPr>
            <a:r>
              <a:rPr b="0" lang="en-US" sz="900" spc="-1" strike="noStrike">
                <a:solidFill>
                  <a:srgbClr val="858efc"/>
                </a:solidFill>
                <a:latin typeface="Rethink Sans"/>
              </a:rPr>
              <a:t>RELACJE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Box 10"/>
          <p:cNvSpPr/>
          <p:nvPr/>
        </p:nvSpPr>
        <p:spPr>
          <a:xfrm>
            <a:off x="762120" y="2190600"/>
            <a:ext cx="2923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Relacje między encjami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Box 11"/>
          <p:cNvSpPr/>
          <p:nvPr/>
        </p:nvSpPr>
        <p:spPr>
          <a:xfrm>
            <a:off x="762120" y="2581200"/>
            <a:ext cx="292392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800"/>
              </a:lnSpc>
            </a:pP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1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: customer→orders, orders→order_item, product→lot, product→stock, courier→shipment, orders→product_returns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​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ts val="1800"/>
              </a:lnSpc>
            </a:pP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1:1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: orders→shipment (UNIQUE constraint)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Rounded Rectangle 12"/>
          <p:cNvSpPr/>
          <p:nvPr/>
        </p:nvSpPr>
        <p:spPr>
          <a:xfrm>
            <a:off x="4067280" y="1104840"/>
            <a:ext cx="3524040" cy="3381120"/>
          </a:xfrm>
          <a:prstGeom prst="roundRect">
            <a:avLst>
              <a:gd name="adj" fmla="val 2253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Rounded Rectangle 13"/>
          <p:cNvSpPr/>
          <p:nvPr/>
        </p:nvSpPr>
        <p:spPr>
          <a:xfrm>
            <a:off x="5705640" y="1409760"/>
            <a:ext cx="247320" cy="247320"/>
          </a:xfrm>
          <a:prstGeom prst="roundRect">
            <a:avLst>
              <a:gd name="adj" fmla="val 30769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65" name="Picture 14" descr="image.png"/>
          <p:cNvPicPr/>
          <p:nvPr/>
        </p:nvPicPr>
        <p:blipFill>
          <a:blip r:embed="rId2"/>
          <a:stretch/>
        </p:blipFill>
        <p:spPr>
          <a:xfrm>
            <a:off x="5705640" y="1409760"/>
            <a:ext cx="247320" cy="247320"/>
          </a:xfrm>
          <a:prstGeom prst="rect">
            <a:avLst/>
          </a:prstGeom>
          <a:ln w="0">
            <a:noFill/>
          </a:ln>
        </p:spPr>
      </p:pic>
      <p:sp>
        <p:nvSpPr>
          <p:cNvPr id="266" name="Rounded Rectangle 15"/>
          <p:cNvSpPr/>
          <p:nvPr/>
        </p:nvSpPr>
        <p:spPr>
          <a:xfrm>
            <a:off x="5334120" y="1886040"/>
            <a:ext cx="980640" cy="1519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ts val="1205"/>
              </a:lnSpc>
            </a:pPr>
            <a:r>
              <a:rPr b="0" lang="en-US" sz="900" spc="-1" strike="noStrike">
                <a:solidFill>
                  <a:srgbClr val="858efc"/>
                </a:solidFill>
                <a:latin typeface="Rethink Sans"/>
              </a:rPr>
              <a:t>NORMALIZACJA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Box 16"/>
          <p:cNvSpPr/>
          <p:nvPr/>
        </p:nvSpPr>
        <p:spPr>
          <a:xfrm>
            <a:off x="4371840" y="2190600"/>
            <a:ext cx="29332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Trzecia postać normalna (3NF)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Box 17"/>
          <p:cNvSpPr/>
          <p:nvPr/>
        </p:nvSpPr>
        <p:spPr>
          <a:xfrm>
            <a:off x="4371840" y="2581200"/>
            <a:ext cx="2933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 lvl="1" marL="228600" indent="-228600" algn="ctr" defTabSz="457200">
              <a:lnSpc>
                <a:spcPts val="1800"/>
              </a:lnSpc>
              <a:buClr>
                <a:srgbClr val="afb3b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Wartości atomowe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lvl="1" marL="228600" indent="-228600" algn="ctr" defTabSz="457200">
              <a:lnSpc>
                <a:spcPts val="1800"/>
              </a:lnSpc>
              <a:buClr>
                <a:srgbClr val="afb3b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Zależność od pełnego klucza głównego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lvl="1" marL="228600" indent="-228600" algn="ctr" defTabSz="457200">
              <a:lnSpc>
                <a:spcPts val="1800"/>
              </a:lnSpc>
              <a:buClr>
                <a:srgbClr val="afb3b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Brak zależności przechodnich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Rounded Rectangle 18"/>
          <p:cNvSpPr/>
          <p:nvPr/>
        </p:nvSpPr>
        <p:spPr>
          <a:xfrm>
            <a:off x="7667640" y="1104840"/>
            <a:ext cx="3533400" cy="3381120"/>
          </a:xfrm>
          <a:prstGeom prst="roundRect">
            <a:avLst>
              <a:gd name="adj" fmla="val 2253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Rounded Rectangle 19"/>
          <p:cNvSpPr/>
          <p:nvPr/>
        </p:nvSpPr>
        <p:spPr>
          <a:xfrm>
            <a:off x="9306000" y="1409760"/>
            <a:ext cx="256680" cy="247320"/>
          </a:xfrm>
          <a:prstGeom prst="roundRect">
            <a:avLst>
              <a:gd name="adj" fmla="val 30769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71" name="Picture 20" descr="image.png"/>
          <p:cNvPicPr/>
          <p:nvPr/>
        </p:nvPicPr>
        <p:blipFill>
          <a:blip r:embed="rId3"/>
          <a:stretch/>
        </p:blipFill>
        <p:spPr>
          <a:xfrm>
            <a:off x="9306000" y="1409760"/>
            <a:ext cx="256680" cy="247320"/>
          </a:xfrm>
          <a:prstGeom prst="rect">
            <a:avLst/>
          </a:prstGeom>
          <a:ln w="0">
            <a:noFill/>
          </a:ln>
        </p:spPr>
      </p:pic>
      <p:sp>
        <p:nvSpPr>
          <p:cNvPr id="272" name="Rounded Rectangle 21"/>
          <p:cNvSpPr/>
          <p:nvPr/>
        </p:nvSpPr>
        <p:spPr>
          <a:xfrm>
            <a:off x="9182160" y="1886040"/>
            <a:ext cx="485280" cy="15192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ts val="1205"/>
              </a:lnSpc>
            </a:pPr>
            <a:r>
              <a:rPr b="0" lang="en-US" sz="900" spc="-1" strike="noStrike">
                <a:solidFill>
                  <a:srgbClr val="858efc"/>
                </a:solidFill>
                <a:latin typeface="Rethink Sans"/>
              </a:rPr>
              <a:t>KLUCZE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Box 22"/>
          <p:cNvSpPr/>
          <p:nvPr/>
        </p:nvSpPr>
        <p:spPr>
          <a:xfrm>
            <a:off x="7972560" y="2190600"/>
            <a:ext cx="2923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Klucze i indeksy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Box 23"/>
          <p:cNvSpPr/>
          <p:nvPr/>
        </p:nvSpPr>
        <p:spPr>
          <a:xfrm>
            <a:off x="7972560" y="2581200"/>
            <a:ext cx="2923920" cy="187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800"/>
              </a:lnSpc>
            </a:pP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Klucze główne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: SERIAL (auto-increment), stock ma klucz złożony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​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ts val="18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Klucze obce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: Powiązania między tabelami procesowym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​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ts val="1800"/>
              </a:lnSpc>
            </a:pP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Indeksy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: Automatyczne dla PK/UNIQUE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1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Rectangle 2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Rounded Rectangle 3"/>
          <p:cNvSpPr/>
          <p:nvPr/>
        </p:nvSpPr>
        <p:spPr>
          <a:xfrm>
            <a:off x="457200" y="457200"/>
            <a:ext cx="10743840" cy="456840"/>
          </a:xfrm>
          <a:prstGeom prst="roundRect">
            <a:avLst>
              <a:gd name="adj" fmla="val 1666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t">
            <a:noAutofit/>
          </a:bodyPr>
          <a:p>
            <a:pPr algn="ctr" defTabSz="457200">
              <a:lnSpc>
                <a:spcPts val="3300"/>
              </a:lnSpc>
            </a:pPr>
            <a:r>
              <a:rPr b="0" lang="en-US" sz="3000" spc="-1" strike="noStrike">
                <a:solidFill>
                  <a:srgbClr val="edeef0"/>
                </a:solidFill>
                <a:latin typeface="Rethink Sans"/>
              </a:rPr>
              <a:t>Uruchomienie i Struktura Skryptów</a:t>
            </a:r>
            <a:endParaRPr b="0" lang="pl-PL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Rectangle 4"/>
          <p:cNvSpPr/>
          <p:nvPr/>
        </p:nvSpPr>
        <p:spPr>
          <a:xfrm>
            <a:off x="457200" y="1104840"/>
            <a:ext cx="10743840" cy="2828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Rectangle 5"/>
          <p:cNvSpPr/>
          <p:nvPr/>
        </p:nvSpPr>
        <p:spPr>
          <a:xfrm>
            <a:off x="457200" y="1104840"/>
            <a:ext cx="10743840" cy="2828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Rounded Rectangle 6"/>
          <p:cNvSpPr/>
          <p:nvPr/>
        </p:nvSpPr>
        <p:spPr>
          <a:xfrm>
            <a:off x="457200" y="1104840"/>
            <a:ext cx="5333760" cy="2828520"/>
          </a:xfrm>
          <a:prstGeom prst="roundRect">
            <a:avLst>
              <a:gd name="adj" fmla="val 2693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Rounded Rectangle 7"/>
          <p:cNvSpPr/>
          <p:nvPr/>
        </p:nvSpPr>
        <p:spPr>
          <a:xfrm>
            <a:off x="3009960" y="1409760"/>
            <a:ext cx="228240" cy="228240"/>
          </a:xfrm>
          <a:prstGeom prst="roundRect">
            <a:avLst>
              <a:gd name="adj" fmla="val 3333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TextBox 8"/>
          <p:cNvSpPr/>
          <p:nvPr/>
        </p:nvSpPr>
        <p:spPr>
          <a:xfrm>
            <a:off x="2809800" y="1413720"/>
            <a:ext cx="62820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6e7afb"/>
                </a:solidFill>
                <a:latin typeface="Rethink Sans"/>
              </a:rPr>
              <a:t>1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Box 9"/>
          <p:cNvSpPr/>
          <p:nvPr/>
        </p:nvSpPr>
        <p:spPr>
          <a:xfrm>
            <a:off x="762120" y="1866960"/>
            <a:ext cx="4723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Instrukcje uruchomienia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Box 10"/>
          <p:cNvSpPr/>
          <p:nvPr/>
        </p:nvSpPr>
        <p:spPr>
          <a:xfrm>
            <a:off x="762120" y="2257560"/>
            <a:ext cx="4723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 lvl="1" marL="228600" indent="-228600" algn="ctr" defTabSz="457200">
              <a:lnSpc>
                <a:spcPts val="1800"/>
              </a:lnSpc>
              <a:buClr>
                <a:srgbClr val="afb3b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Utwórz bazę: </a:t>
            </a: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CREATE DATABASE dataflow_wms;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lvl="1" marL="228600" indent="-228600" algn="ctr" defTabSz="457200">
              <a:lnSpc>
                <a:spcPts val="1800"/>
              </a:lnSpc>
              <a:buClr>
                <a:srgbClr val="afb3b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Uruchom skrypty: </a:t>
            </a: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\i schema.sql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 i </a:t>
            </a: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\i data.sql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ounded Rectangle 11"/>
          <p:cNvSpPr/>
          <p:nvPr/>
        </p:nvSpPr>
        <p:spPr>
          <a:xfrm>
            <a:off x="5867280" y="1104840"/>
            <a:ext cx="5333760" cy="2828520"/>
          </a:xfrm>
          <a:prstGeom prst="roundRect">
            <a:avLst>
              <a:gd name="adj" fmla="val 2693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Rounded Rectangle 12"/>
          <p:cNvSpPr/>
          <p:nvPr/>
        </p:nvSpPr>
        <p:spPr>
          <a:xfrm>
            <a:off x="8420040" y="1409760"/>
            <a:ext cx="228240" cy="228240"/>
          </a:xfrm>
          <a:prstGeom prst="roundRect">
            <a:avLst>
              <a:gd name="adj" fmla="val 3333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13"/>
          <p:cNvSpPr/>
          <p:nvPr/>
        </p:nvSpPr>
        <p:spPr>
          <a:xfrm>
            <a:off x="8220240" y="1413720"/>
            <a:ext cx="62820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6e7afb"/>
                </a:solidFill>
                <a:latin typeface="Rethink Sans"/>
              </a:rPr>
              <a:t>2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Box 14"/>
          <p:cNvSpPr/>
          <p:nvPr/>
        </p:nvSpPr>
        <p:spPr>
          <a:xfrm>
            <a:off x="6172200" y="1866960"/>
            <a:ext cx="4723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Struktura skryptów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Box 15"/>
          <p:cNvSpPr/>
          <p:nvPr/>
        </p:nvSpPr>
        <p:spPr>
          <a:xfrm>
            <a:off x="6172200" y="2257560"/>
            <a:ext cx="472392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endParaRPr b="0" lang="pl-PL" sz="1800" spc="-1" strike="noStrike">
              <a:solidFill>
                <a:srgbClr val="ffffff"/>
              </a:solidFill>
              <a:latin typeface="Arial"/>
            </a:endParaRPr>
          </a:p>
          <a:p>
            <a:pPr lvl="1" marL="228600" indent="-228600" algn="ctr" defTabSz="457200">
              <a:lnSpc>
                <a:spcPts val="1800"/>
              </a:lnSpc>
              <a:buClr>
                <a:srgbClr val="afb3ba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schema.sql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 - Definicje tabel, typów ENUM, kluczy, relacji (DDL)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lvl="1" marL="228600" indent="-228600" algn="ctr" defTabSz="457200">
              <a:lnSpc>
                <a:spcPts val="1800"/>
              </a:lnSpc>
              <a:buClr>
                <a:srgbClr val="afb3ba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data.sql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 - Dane testowe (DML)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lvl="1" marL="228600" indent="-228600" algn="ctr" defTabSz="457200">
              <a:lnSpc>
                <a:spcPts val="1800"/>
              </a:lnSpc>
              <a:buClr>
                <a:srgbClr val="afb3ba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analyst_queries.sql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 - Zapytania analityczne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lvl="1" marL="228600" indent="-228600" algn="ctr" defTabSz="457200">
              <a:lnSpc>
                <a:spcPts val="1800"/>
              </a:lnSpc>
              <a:buClr>
                <a:srgbClr val="afb3ba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admin_queries.sql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 - Scenariusz administracyjny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Rounded Rectangle 16"/>
          <p:cNvSpPr/>
          <p:nvPr/>
        </p:nvSpPr>
        <p:spPr>
          <a:xfrm>
            <a:off x="457200" y="4124160"/>
            <a:ext cx="10743840" cy="266400"/>
          </a:xfrm>
          <a:prstGeom prst="roundRect">
            <a:avLst>
              <a:gd name="adj" fmla="val 28571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ts val="2100"/>
              </a:lnSpc>
            </a:pPr>
            <a:r>
              <a:rPr b="0" lang="en-US" sz="1500" spc="-1" strike="noStrike">
                <a:solidFill>
                  <a:srgbClr val="afb3ba"/>
                </a:solidFill>
                <a:latin typeface="Rethink Sans"/>
              </a:rPr>
              <a:t>Skrypty zapewniają kompletną strukturę bazy i dane testowe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1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Rectangle 2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Rectangle 3"/>
          <p:cNvSpPr/>
          <p:nvPr/>
        </p:nvSpPr>
        <p:spPr>
          <a:xfrm>
            <a:off x="457200" y="1238400"/>
            <a:ext cx="10743840" cy="30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Rounded Rectangle 4"/>
          <p:cNvSpPr/>
          <p:nvPr/>
        </p:nvSpPr>
        <p:spPr>
          <a:xfrm>
            <a:off x="457200" y="1238400"/>
            <a:ext cx="1238040" cy="304560"/>
          </a:xfrm>
          <a:prstGeom prst="roundRect">
            <a:avLst>
              <a:gd name="adj" fmla="val 25000"/>
            </a:avLst>
          </a:prstGeom>
          <a:solidFill>
            <a:srgbClr val="18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76320" rIns="76320" tIns="76320" bIns="76320" anchor="ctr">
            <a:noAutofit/>
          </a:bodyPr>
          <a:p>
            <a:pPr algn="ctr" defTabSz="457200">
              <a:lnSpc>
                <a:spcPts val="1205"/>
              </a:lnSpc>
            </a:pPr>
            <a:r>
              <a:rPr b="0" lang="en-US" sz="900" spc="-1" strike="noStrike">
                <a:solidFill>
                  <a:srgbClr val="858efc"/>
                </a:solidFill>
                <a:latin typeface="Rethink Sans"/>
              </a:rPr>
              <a:t>ANALIZA DANYCH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Rounded Rectangle 5"/>
          <p:cNvSpPr/>
          <p:nvPr/>
        </p:nvSpPr>
        <p:spPr>
          <a:xfrm>
            <a:off x="457200" y="1619280"/>
            <a:ext cx="10743840" cy="456840"/>
          </a:xfrm>
          <a:prstGeom prst="roundRect">
            <a:avLst>
              <a:gd name="adj" fmla="val 1666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ts val="3300"/>
              </a:lnSpc>
            </a:pPr>
            <a:r>
              <a:rPr b="0" lang="en-US" sz="3000" spc="-1" strike="noStrike">
                <a:solidFill>
                  <a:srgbClr val="edeef0"/>
                </a:solidFill>
                <a:latin typeface="Rethink Sans"/>
              </a:rPr>
              <a:t>Scenariusz Analityczny</a:t>
            </a:r>
            <a:endParaRPr b="0" lang="pl-PL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Rectangle 6"/>
          <p:cNvSpPr/>
          <p:nvPr/>
        </p:nvSpPr>
        <p:spPr>
          <a:xfrm>
            <a:off x="457200" y="2266920"/>
            <a:ext cx="10743840" cy="3057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Rectangle 7"/>
          <p:cNvSpPr/>
          <p:nvPr/>
        </p:nvSpPr>
        <p:spPr>
          <a:xfrm>
            <a:off x="457200" y="2266920"/>
            <a:ext cx="10743840" cy="3057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Rounded Rectangle 8"/>
          <p:cNvSpPr/>
          <p:nvPr/>
        </p:nvSpPr>
        <p:spPr>
          <a:xfrm>
            <a:off x="457200" y="2266920"/>
            <a:ext cx="3533400" cy="3057120"/>
          </a:xfrm>
          <a:prstGeom prst="roundRect">
            <a:avLst>
              <a:gd name="adj" fmla="val 2492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TextBox 9"/>
          <p:cNvSpPr/>
          <p:nvPr/>
        </p:nvSpPr>
        <p:spPr>
          <a:xfrm>
            <a:off x="762120" y="2571840"/>
            <a:ext cx="2923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Struktura zapytań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Box 10"/>
          <p:cNvSpPr/>
          <p:nvPr/>
        </p:nvSpPr>
        <p:spPr>
          <a:xfrm>
            <a:off x="762120" y="2962440"/>
            <a:ext cx="2923920" cy="18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Zapytania analityczne w pliku </a:t>
            </a: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analyst_queries.sql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 zawierają: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lvl="1" marL="228600" indent="-228600" defTabSz="457200">
              <a:lnSpc>
                <a:spcPts val="1800"/>
              </a:lnSpc>
              <a:buClr>
                <a:srgbClr val="afb3b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Cel biznesowy – problem, który rozwiązuje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lvl="1" marL="228600" indent="-228600" defTabSz="457200">
              <a:lnSpc>
                <a:spcPts val="1800"/>
              </a:lnSpc>
              <a:buClr>
                <a:srgbClr val="afb3b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Pytanie analityczne / KPI – mierzalny wskaźnik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lvl="1" marL="228600" indent="-228600" defTabSz="457200">
              <a:lnSpc>
                <a:spcPts val="1800"/>
              </a:lnSpc>
              <a:buClr>
                <a:srgbClr val="afb3ba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Interpretacja wyniku – wnioski biznesowe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Rounded Rectangle 11"/>
          <p:cNvSpPr/>
          <p:nvPr/>
        </p:nvSpPr>
        <p:spPr>
          <a:xfrm>
            <a:off x="4067280" y="2266920"/>
            <a:ext cx="3524040" cy="3057120"/>
          </a:xfrm>
          <a:prstGeom prst="roundRect">
            <a:avLst>
              <a:gd name="adj" fmla="val 2492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TextBox 12"/>
          <p:cNvSpPr/>
          <p:nvPr/>
        </p:nvSpPr>
        <p:spPr>
          <a:xfrm>
            <a:off x="4371840" y="2571840"/>
            <a:ext cx="2933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Analiza sprawności kurierów (SLA)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13"/>
          <p:cNvSpPr/>
          <p:nvPr/>
        </p:nvSpPr>
        <p:spPr>
          <a:xfrm>
            <a:off x="4371840" y="2962440"/>
            <a:ext cx="2933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Weryfikacja dotrzymywania deklarowanych czasów dostaw przez kurierów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Rounded Rectangle 14"/>
          <p:cNvSpPr/>
          <p:nvPr/>
        </p:nvSpPr>
        <p:spPr>
          <a:xfrm>
            <a:off x="7667640" y="2266920"/>
            <a:ext cx="3533400" cy="3057120"/>
          </a:xfrm>
          <a:prstGeom prst="roundRect">
            <a:avLst>
              <a:gd name="adj" fmla="val 2492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TextBox 15"/>
          <p:cNvSpPr/>
          <p:nvPr/>
        </p:nvSpPr>
        <p:spPr>
          <a:xfrm>
            <a:off x="7972560" y="2571840"/>
            <a:ext cx="2923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Analiza magazynowa i rotacji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Box 16"/>
          <p:cNvSpPr/>
          <p:nvPr/>
        </p:nvSpPr>
        <p:spPr>
          <a:xfrm>
            <a:off x="7972560" y="2962440"/>
            <a:ext cx="2923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Monitorowanie stanów magazynowych – lokalizacja i ilość produktów oraz analiza najczęściej zamawianych produktów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 1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8" name="Rectangle 2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Rectangle 3"/>
          <p:cNvSpPr/>
          <p:nvPr/>
        </p:nvSpPr>
        <p:spPr>
          <a:xfrm>
            <a:off x="457200" y="1581120"/>
            <a:ext cx="10743840" cy="30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Rounded Rectangle 4"/>
          <p:cNvSpPr/>
          <p:nvPr/>
        </p:nvSpPr>
        <p:spPr>
          <a:xfrm>
            <a:off x="457200" y="1581120"/>
            <a:ext cx="1180800" cy="304560"/>
          </a:xfrm>
          <a:prstGeom prst="roundRect">
            <a:avLst>
              <a:gd name="adj" fmla="val 25000"/>
            </a:avLst>
          </a:prstGeom>
          <a:solidFill>
            <a:srgbClr val="18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76320" rIns="76320" tIns="76320" bIns="76320" anchor="ctr">
            <a:noAutofit/>
          </a:bodyPr>
          <a:p>
            <a:pPr algn="ctr" defTabSz="457200">
              <a:lnSpc>
                <a:spcPts val="1205"/>
              </a:lnSpc>
            </a:pPr>
            <a:r>
              <a:rPr b="0" lang="en-US" sz="900" spc="-1" strike="noStrike">
                <a:solidFill>
                  <a:srgbClr val="858efc"/>
                </a:solidFill>
                <a:latin typeface="Rethink Sans"/>
              </a:rPr>
              <a:t>ADMINISTRACJA</a:t>
            </a:r>
            <a:endParaRPr b="0" lang="pl-PL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Rounded Rectangle 5"/>
          <p:cNvSpPr/>
          <p:nvPr/>
        </p:nvSpPr>
        <p:spPr>
          <a:xfrm>
            <a:off x="457200" y="1962000"/>
            <a:ext cx="10743840" cy="456840"/>
          </a:xfrm>
          <a:prstGeom prst="roundRect">
            <a:avLst>
              <a:gd name="adj" fmla="val 1666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ts val="3300"/>
              </a:lnSpc>
            </a:pPr>
            <a:r>
              <a:rPr b="0" lang="en-US" sz="3000" spc="-1" strike="noStrike">
                <a:solidFill>
                  <a:srgbClr val="edeef0"/>
                </a:solidFill>
                <a:latin typeface="Rethink Sans"/>
              </a:rPr>
              <a:t>Scenariusz Administracyjny</a:t>
            </a:r>
            <a:endParaRPr b="0" lang="pl-PL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Rectangle 6"/>
          <p:cNvSpPr/>
          <p:nvPr/>
        </p:nvSpPr>
        <p:spPr>
          <a:xfrm>
            <a:off x="457200" y="2610000"/>
            <a:ext cx="10743840" cy="2371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Rectangle 7"/>
          <p:cNvSpPr/>
          <p:nvPr/>
        </p:nvSpPr>
        <p:spPr>
          <a:xfrm>
            <a:off x="457200" y="2610000"/>
            <a:ext cx="10743840" cy="2371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Rounded Rectangle 8"/>
          <p:cNvSpPr/>
          <p:nvPr/>
        </p:nvSpPr>
        <p:spPr>
          <a:xfrm>
            <a:off x="457200" y="2610000"/>
            <a:ext cx="2628720" cy="2371320"/>
          </a:xfrm>
          <a:prstGeom prst="roundRect">
            <a:avLst>
              <a:gd name="adj" fmla="val 3212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9"/>
          <p:cNvSpPr/>
          <p:nvPr/>
        </p:nvSpPr>
        <p:spPr>
          <a:xfrm>
            <a:off x="762120" y="2914560"/>
            <a:ext cx="2018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Nowa tabela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Box 10"/>
          <p:cNvSpPr/>
          <p:nvPr/>
        </p:nvSpPr>
        <p:spPr>
          <a:xfrm>
            <a:off x="762120" y="3305160"/>
            <a:ext cx="2018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product_returns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 — obsługa zwrotów produktów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Rounded Rectangle 11"/>
          <p:cNvSpPr/>
          <p:nvPr/>
        </p:nvSpPr>
        <p:spPr>
          <a:xfrm>
            <a:off x="3162240" y="2610000"/>
            <a:ext cx="2628720" cy="2371320"/>
          </a:xfrm>
          <a:prstGeom prst="roundRect">
            <a:avLst>
              <a:gd name="adj" fmla="val 3212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TextBox 12"/>
          <p:cNvSpPr/>
          <p:nvPr/>
        </p:nvSpPr>
        <p:spPr>
          <a:xfrm>
            <a:off x="3467160" y="2914560"/>
            <a:ext cx="2018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Nowy użytkownik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Box 13"/>
          <p:cNvSpPr/>
          <p:nvPr/>
        </p:nvSpPr>
        <p:spPr>
          <a:xfrm>
            <a:off x="3467160" y="3305160"/>
            <a:ext cx="2018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Rola </a:t>
            </a: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analityk_magazynu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 z uprawnieniami tylko do odczytu (SELECT)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Rounded Rectangle 14"/>
          <p:cNvSpPr/>
          <p:nvPr/>
        </p:nvSpPr>
        <p:spPr>
          <a:xfrm>
            <a:off x="5867280" y="2610000"/>
            <a:ext cx="2628720" cy="2371320"/>
          </a:xfrm>
          <a:prstGeom prst="roundRect">
            <a:avLst>
              <a:gd name="adj" fmla="val 3212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TextBox 15"/>
          <p:cNvSpPr/>
          <p:nvPr/>
        </p:nvSpPr>
        <p:spPr>
          <a:xfrm>
            <a:off x="6172200" y="2914560"/>
            <a:ext cx="2018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Operacje CRUD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Box 16"/>
          <p:cNvSpPr/>
          <p:nvPr/>
        </p:nvSpPr>
        <p:spPr>
          <a:xfrm>
            <a:off x="6172200" y="3305160"/>
            <a:ext cx="201888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CREATE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: Rejestracja zwrotu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UPDATE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: Przesunięcie zapasów STORAGE → PICKING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1800"/>
              </a:lnSpc>
            </a:pP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DELETE</a:t>
            </a: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: Usunięcie wadliwej partii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Rounded Rectangle 17"/>
          <p:cNvSpPr/>
          <p:nvPr/>
        </p:nvSpPr>
        <p:spPr>
          <a:xfrm>
            <a:off x="8572680" y="2610000"/>
            <a:ext cx="2628720" cy="2371320"/>
          </a:xfrm>
          <a:prstGeom prst="roundRect">
            <a:avLst>
              <a:gd name="adj" fmla="val 3212"/>
            </a:avLst>
          </a:prstGeom>
          <a:solidFill>
            <a:srgbClr val="181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4" name="TextBox 18"/>
          <p:cNvSpPr/>
          <p:nvPr/>
        </p:nvSpPr>
        <p:spPr>
          <a:xfrm>
            <a:off x="8877240" y="2914560"/>
            <a:ext cx="2018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500" spc="-1" strike="noStrike">
                <a:solidFill>
                  <a:srgbClr val="edeef0"/>
                </a:solidFill>
                <a:latin typeface="Rethink Sans"/>
              </a:rPr>
              <a:t>Zapytania SQL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Box 19"/>
          <p:cNvSpPr/>
          <p:nvPr/>
        </p:nvSpPr>
        <p:spPr>
          <a:xfrm>
            <a:off x="8877240" y="3305160"/>
            <a:ext cx="2018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b="0" lang="en-US" sz="1200" spc="-1" strike="noStrike">
                <a:solidFill>
                  <a:srgbClr val="afb3ba"/>
                </a:solidFill>
                <a:latin typeface="Rethink Sans"/>
              </a:rPr>
              <a:t>Wszystkie zapytania dostępne w pliku </a:t>
            </a:r>
            <a:r>
              <a:rPr b="1" lang="en-US" sz="1200" spc="-1" strike="noStrike">
                <a:solidFill>
                  <a:srgbClr val="afb3ba"/>
                </a:solidFill>
                <a:latin typeface="Rethink Sans"/>
              </a:rPr>
              <a:t>admin_queries.sql</a:t>
            </a:r>
            <a:endParaRPr b="0" lang="pl-PL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angle 1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solidFill>
            <a:srgbClr val="0d0d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Rectangle 2"/>
          <p:cNvSpPr/>
          <p:nvPr/>
        </p:nvSpPr>
        <p:spPr>
          <a:xfrm>
            <a:off x="0" y="0"/>
            <a:ext cx="11658240" cy="6562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8" name="Rounded Rectangle 3"/>
          <p:cNvSpPr/>
          <p:nvPr/>
        </p:nvSpPr>
        <p:spPr>
          <a:xfrm>
            <a:off x="457200" y="457200"/>
            <a:ext cx="10743840" cy="4790880"/>
          </a:xfrm>
          <a:prstGeom prst="roundRect">
            <a:avLst>
              <a:gd name="adj" fmla="val 159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ts val="2100"/>
              </a:lnSpc>
            </a:pPr>
            <a:r>
              <a:rPr b="0" lang="en-US" sz="1500" spc="-1" strike="noStrike">
                <a:solidFill>
                  <a:srgbClr val="afb3ba"/>
                </a:solidFill>
                <a:latin typeface="Rethink Sans"/>
              </a:rPr>
              <a:t>Nikodem Boniecki, Adam Remfeld, Kacper Nowaczyk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ts val="3300"/>
              </a:lnSpc>
            </a:pPr>
            <a:r>
              <a:rPr b="0" lang="en-US" sz="3000" spc="-1" strike="noStrike">
                <a:solidFill>
                  <a:srgbClr val="edeef0"/>
                </a:solidFill>
                <a:latin typeface="Rethink Sans"/>
              </a:rPr>
              <a:t>DataFlow WMS</a:t>
            </a:r>
            <a:endParaRPr b="0" lang="pl-PL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Rounded Rectangle 4"/>
          <p:cNvSpPr/>
          <p:nvPr/>
        </p:nvSpPr>
        <p:spPr>
          <a:xfrm>
            <a:off x="457200" y="5438880"/>
            <a:ext cx="10743840" cy="533160"/>
          </a:xfrm>
          <a:prstGeom prst="roundRect">
            <a:avLst>
              <a:gd name="adj" fmla="val 1428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ts val="2100"/>
              </a:lnSpc>
            </a:pPr>
            <a:r>
              <a:rPr b="0" lang="en-US" sz="1500" spc="-1" strike="noStrike">
                <a:solidFill>
                  <a:srgbClr val="afb3ba"/>
                </a:solidFill>
                <a:latin typeface="Rethink Sans"/>
              </a:rPr>
              <a:t>30 stycznia 2026</a:t>
            </a:r>
            <a:endParaRPr b="0" lang="pl-PL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2026-01-30T20:45:33Z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